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1"/>
  </p:notesMasterIdLst>
  <p:sldIdLst>
    <p:sldId id="297" r:id="rId2"/>
    <p:sldId id="290" r:id="rId3"/>
    <p:sldId id="319" r:id="rId4"/>
    <p:sldId id="283" r:id="rId5"/>
    <p:sldId id="322" r:id="rId6"/>
    <p:sldId id="323" r:id="rId7"/>
    <p:sldId id="315" r:id="rId8"/>
    <p:sldId id="316" r:id="rId9"/>
    <p:sldId id="291" r:id="rId10"/>
    <p:sldId id="320" r:id="rId11"/>
    <p:sldId id="292" r:id="rId12"/>
    <p:sldId id="289" r:id="rId13"/>
    <p:sldId id="284" r:id="rId14"/>
    <p:sldId id="325" r:id="rId15"/>
    <p:sldId id="326" r:id="rId16"/>
    <p:sldId id="287" r:id="rId17"/>
    <p:sldId id="327" r:id="rId18"/>
    <p:sldId id="328" r:id="rId19"/>
    <p:sldId id="329" r:id="rId20"/>
    <p:sldId id="330" r:id="rId21"/>
    <p:sldId id="331" r:id="rId22"/>
    <p:sldId id="333" r:id="rId23"/>
    <p:sldId id="332" r:id="rId24"/>
    <p:sldId id="309" r:id="rId25"/>
    <p:sldId id="279" r:id="rId26"/>
    <p:sldId id="258" r:id="rId27"/>
    <p:sldId id="314" r:id="rId28"/>
    <p:sldId id="334" r:id="rId29"/>
    <p:sldId id="299"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96" autoAdjust="0"/>
    <p:restoredTop sz="94624" autoAdjust="0"/>
  </p:normalViewPr>
  <p:slideViewPr>
    <p:cSldViewPr>
      <p:cViewPr varScale="1">
        <p:scale>
          <a:sx n="64" d="100"/>
          <a:sy n="64" d="100"/>
        </p:scale>
        <p:origin x="1002" y="10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CABBEF-37DD-4504-82ED-54A755F34D98}" type="datetimeFigureOut">
              <a:rPr lang="en-GB" smtClean="0"/>
              <a:pPr/>
              <a:t>05/02/2026</a:t>
            </a:fld>
            <a:endParaRPr lang="en-GB"/>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B2B27D-5AE6-4D2B-869A-A80497C10397}" type="slidenum">
              <a:rPr lang="en-GB" smtClean="0"/>
              <a:pPr/>
              <a:t>‹#›</a:t>
            </a:fld>
            <a:endParaRPr lang="en-GB"/>
          </a:p>
        </p:txBody>
      </p:sp>
    </p:spTree>
    <p:extLst>
      <p:ext uri="{BB962C8B-B14F-4D97-AF65-F5344CB8AC3E}">
        <p14:creationId xmlns:p14="http://schemas.microsoft.com/office/powerpoint/2010/main" val="3583600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0353D1C-AEE0-4F65-B67A-F31FA12BE374}"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FADC-6ADC-418D-BF6D-A801C2FA6A3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353D1C-AEE0-4F65-B67A-F31FA12BE374}"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FADC-6ADC-418D-BF6D-A801C2FA6A3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353D1C-AEE0-4F65-B67A-F31FA12BE374}"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FADC-6ADC-418D-BF6D-A801C2FA6A3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0353D1C-AEE0-4F65-B67A-F31FA12BE374}"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FCFADC-6ADC-418D-BF6D-A801C2FA6A3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0353D1C-AEE0-4F65-B67A-F31FA12BE374}" type="datetimeFigureOut">
              <a:rPr lang="en-US" smtClean="0"/>
              <a:pPr/>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FCFADC-6ADC-418D-BF6D-A801C2FA6A3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0353D1C-AEE0-4F65-B67A-F31FA12BE374}" type="datetimeFigureOut">
              <a:rPr lang="en-US" smtClean="0"/>
              <a:pPr/>
              <a:t>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FCFADC-6ADC-418D-BF6D-A801C2FA6A3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353D1C-AEE0-4F65-B67A-F31FA12BE374}" type="datetimeFigureOut">
              <a:rPr lang="en-US" smtClean="0"/>
              <a:pPr/>
              <a:t>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FCFADC-6ADC-418D-BF6D-A801C2FA6A3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353D1C-AEE0-4F65-B67A-F31FA12BE374}"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FCFADC-6ADC-418D-BF6D-A801C2FA6A3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353D1C-AEE0-4F65-B67A-F31FA12BE374}" type="datetimeFigureOut">
              <a:rPr lang="en-US" smtClean="0"/>
              <a:pPr/>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FCFADC-6ADC-418D-BF6D-A801C2FA6A3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353D1C-AEE0-4F65-B67A-F31FA12BE374}"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FADC-6ADC-418D-BF6D-A801C2FA6A3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353D1C-AEE0-4F65-B67A-F31FA12BE374}" type="datetimeFigureOut">
              <a:rPr lang="en-US" smtClean="0"/>
              <a:pPr/>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FCFADC-6ADC-418D-BF6D-A801C2FA6A3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t="14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0353D1C-AEE0-4F65-B67A-F31FA12BE374}" type="datetimeFigureOut">
              <a:rPr lang="en-US" smtClean="0"/>
              <a:pPr/>
              <a:t>2/5/2026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FCFADC-6ADC-418D-BF6D-A801C2FA6A3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16632"/>
            <a:ext cx="10972800" cy="576064"/>
          </a:xfrm>
        </p:spPr>
        <p:txBody>
          <a:bodyPr>
            <a:normAutofit fontScale="90000"/>
          </a:bodyPr>
          <a:lstStyle/>
          <a:p>
            <a:r>
              <a:rPr lang="en-US" dirty="0">
                <a:latin typeface="Lucida Calligraphy" panose="03010101010101010101" pitchFamily="66" charset="0"/>
              </a:rPr>
              <a:t>COVER PAGE</a:t>
            </a:r>
          </a:p>
        </p:txBody>
      </p:sp>
      <p:sp>
        <p:nvSpPr>
          <p:cNvPr id="3" name="Content Placeholder 2"/>
          <p:cNvSpPr>
            <a:spLocks noGrp="1"/>
          </p:cNvSpPr>
          <p:nvPr>
            <p:ph sz="half" idx="1"/>
          </p:nvPr>
        </p:nvSpPr>
        <p:spPr>
          <a:xfrm>
            <a:off x="335360" y="1052737"/>
            <a:ext cx="7992888" cy="5073428"/>
          </a:xfrm>
        </p:spPr>
        <p:txBody>
          <a:bodyPr>
            <a:normAutofit/>
          </a:bodyPr>
          <a:lstStyle/>
          <a:p>
            <a:r>
              <a:rPr lang="en-US" sz="3000" b="1" i="1" dirty="0"/>
              <a:t>COURSE CODE: BACS 101 </a:t>
            </a:r>
            <a:endParaRPr lang="en-US" sz="3000" i="1" dirty="0"/>
          </a:p>
          <a:p>
            <a:r>
              <a:rPr lang="en-US" sz="3000" b="1" i="1" dirty="0"/>
              <a:t>COURSE TITLE: COMMUNICATION BASICS</a:t>
            </a:r>
            <a:endParaRPr lang="en-US" sz="3000" i="1" dirty="0"/>
          </a:p>
          <a:p>
            <a:r>
              <a:rPr lang="en-US" sz="3000" b="1" i="1" dirty="0"/>
              <a:t>TOPIC: Introduction: The concept of communication</a:t>
            </a:r>
            <a:endParaRPr lang="en-US" sz="3000" i="1" dirty="0"/>
          </a:p>
          <a:p>
            <a:r>
              <a:rPr lang="en-US" sz="3000" b="1" i="1" dirty="0"/>
              <a:t>WEEK 1</a:t>
            </a:r>
            <a:endParaRPr lang="en-US" sz="3000" i="1" dirty="0"/>
          </a:p>
          <a:p>
            <a:endParaRPr lang="en-US" dirty="0"/>
          </a:p>
        </p:txBody>
      </p:sp>
      <p:sp>
        <p:nvSpPr>
          <p:cNvPr id="4" name="Content Placeholder 3"/>
          <p:cNvSpPr>
            <a:spLocks noGrp="1"/>
          </p:cNvSpPr>
          <p:nvPr>
            <p:ph sz="half" idx="2"/>
          </p:nvPr>
        </p:nvSpPr>
        <p:spPr>
          <a:xfrm>
            <a:off x="8328248" y="836713"/>
            <a:ext cx="3528392" cy="5289452"/>
          </a:xfrm>
        </p:spPr>
        <p:txBody>
          <a:bodyPr>
            <a:normAutofit/>
          </a:bodyPr>
          <a:lstStyle/>
          <a:p>
            <a:pPr marL="0" indent="0">
              <a:buNone/>
            </a:pPr>
            <a:endParaRPr lang="en-US" dirty="0"/>
          </a:p>
        </p:txBody>
      </p:sp>
      <p:pic>
        <p:nvPicPr>
          <p:cNvPr id="6" name="Picture 5">
            <a:extLst>
              <a:ext uri="{FF2B5EF4-FFF2-40B4-BE49-F238E27FC236}">
                <a16:creationId xmlns:a16="http://schemas.microsoft.com/office/drawing/2014/main" id="{D816A44E-E5A6-44F3-AF14-149F272156D7}"/>
              </a:ext>
            </a:extLst>
          </p:cNvPr>
          <p:cNvPicPr>
            <a:picLocks noChangeAspect="1"/>
          </p:cNvPicPr>
          <p:nvPr/>
        </p:nvPicPr>
        <p:blipFill>
          <a:blip r:embed="rId2"/>
          <a:stretch>
            <a:fillRect/>
          </a:stretch>
        </p:blipFill>
        <p:spPr>
          <a:xfrm>
            <a:off x="5375920" y="2636912"/>
            <a:ext cx="6480720" cy="3633270"/>
          </a:xfrm>
          <a:prstGeom prst="rect">
            <a:avLst/>
          </a:prstGeom>
        </p:spPr>
      </p:pic>
    </p:spTree>
    <p:extLst>
      <p:ext uri="{BB962C8B-B14F-4D97-AF65-F5344CB8AC3E}">
        <p14:creationId xmlns:p14="http://schemas.microsoft.com/office/powerpoint/2010/main" val="39916595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692696"/>
          </a:xfrm>
        </p:spPr>
        <p:txBody>
          <a:bodyPr>
            <a:noAutofit/>
          </a:bodyPr>
          <a:lstStyle/>
          <a:p>
            <a:r>
              <a:rPr lang="en-US" dirty="0"/>
              <a:t>The concept of communication </a:t>
            </a:r>
            <a:r>
              <a:rPr lang="en-GB" sz="3200" b="1" dirty="0"/>
              <a:t> </a:t>
            </a:r>
            <a:endParaRPr lang="en-GB" sz="3200" dirty="0"/>
          </a:p>
        </p:txBody>
      </p:sp>
      <p:sp>
        <p:nvSpPr>
          <p:cNvPr id="3" name="Content Placeholder 2"/>
          <p:cNvSpPr>
            <a:spLocks noGrp="1"/>
          </p:cNvSpPr>
          <p:nvPr>
            <p:ph idx="1"/>
          </p:nvPr>
        </p:nvSpPr>
        <p:spPr>
          <a:xfrm>
            <a:off x="767408" y="692696"/>
            <a:ext cx="10814992" cy="5832648"/>
          </a:xfrm>
        </p:spPr>
        <p:txBody>
          <a:bodyPr>
            <a:normAutofit/>
          </a:bodyPr>
          <a:lstStyle/>
          <a:p>
            <a:pPr algn="just"/>
            <a:r>
              <a:rPr lang="en-GB" dirty="0"/>
              <a:t>It is nearly impossible to go through a day without communicating. </a:t>
            </a:r>
          </a:p>
          <a:p>
            <a:pPr algn="just"/>
            <a:endParaRPr lang="en-GB" dirty="0"/>
          </a:p>
          <a:p>
            <a:pPr algn="just"/>
            <a:r>
              <a:rPr lang="en-GB" dirty="0"/>
              <a:t>In its simple form, communication involves sending and receiving information between people. </a:t>
            </a:r>
          </a:p>
          <a:p>
            <a:pPr algn="just"/>
            <a:endParaRPr lang="en-GB" dirty="0"/>
          </a:p>
          <a:p>
            <a:pPr algn="just"/>
            <a:r>
              <a:rPr lang="en-GB" dirty="0"/>
              <a:t>The person sending the message is referred to as the sender (source), while the person receiving the information is called the receiver (destination). </a:t>
            </a:r>
          </a:p>
          <a:p>
            <a:pPr algn="just"/>
            <a:endParaRPr lang="en-GB" dirty="0"/>
          </a:p>
          <a:p>
            <a:pPr algn="just"/>
            <a:endParaRPr lang="en-GB" dirty="0"/>
          </a:p>
          <a:p>
            <a:pPr algn="just"/>
            <a:endParaRPr lang="en-GB"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F8F36-05E5-4AE3-B37C-1EEB1534FBA0}"/>
              </a:ext>
            </a:extLst>
          </p:cNvPr>
          <p:cNvSpPr>
            <a:spLocks noGrp="1"/>
          </p:cNvSpPr>
          <p:nvPr>
            <p:ph type="title"/>
          </p:nvPr>
        </p:nvSpPr>
        <p:spPr>
          <a:xfrm>
            <a:off x="609600" y="116632"/>
            <a:ext cx="10972800" cy="615203"/>
          </a:xfrm>
        </p:spPr>
        <p:txBody>
          <a:bodyPr>
            <a:normAutofit fontScale="90000"/>
          </a:bodyPr>
          <a:lstStyle/>
          <a:p>
            <a:r>
              <a:rPr lang="en-GB" dirty="0"/>
              <a:t>The concept of communication </a:t>
            </a:r>
          </a:p>
        </p:txBody>
      </p:sp>
      <p:sp>
        <p:nvSpPr>
          <p:cNvPr id="3" name="Content Placeholder 2">
            <a:extLst>
              <a:ext uri="{FF2B5EF4-FFF2-40B4-BE49-F238E27FC236}">
                <a16:creationId xmlns:a16="http://schemas.microsoft.com/office/drawing/2014/main" id="{C6B74C63-9DFF-4AB6-B597-0ED8E573899A}"/>
              </a:ext>
            </a:extLst>
          </p:cNvPr>
          <p:cNvSpPr>
            <a:spLocks noGrp="1"/>
          </p:cNvSpPr>
          <p:nvPr>
            <p:ph idx="1"/>
          </p:nvPr>
        </p:nvSpPr>
        <p:spPr>
          <a:xfrm>
            <a:off x="609600" y="731835"/>
            <a:ext cx="10972800" cy="5394330"/>
          </a:xfrm>
        </p:spPr>
        <p:txBody>
          <a:bodyPr>
            <a:normAutofit lnSpcReduction="10000"/>
          </a:bodyPr>
          <a:lstStyle/>
          <a:p>
            <a:pPr algn="just"/>
            <a:r>
              <a:rPr lang="en-GB" sz="3600" dirty="0"/>
              <a:t>The word “communication” is often used to mean speaking or writing or sending a message to another person. </a:t>
            </a:r>
          </a:p>
          <a:p>
            <a:pPr marL="0" indent="0" algn="just">
              <a:buNone/>
            </a:pPr>
            <a:endParaRPr lang="en-GB" sz="3600" dirty="0"/>
          </a:p>
          <a:p>
            <a:pPr algn="just"/>
            <a:r>
              <a:rPr lang="en-GB" sz="3600" dirty="0"/>
              <a:t>But it is really much more than that. </a:t>
            </a:r>
          </a:p>
          <a:p>
            <a:pPr algn="just"/>
            <a:endParaRPr lang="en-GB" sz="3600" dirty="0"/>
          </a:p>
          <a:p>
            <a:pPr algn="just"/>
            <a:r>
              <a:rPr lang="en-GB" sz="3600" dirty="0"/>
              <a:t>It involves ensuring that your </a:t>
            </a:r>
            <a:r>
              <a:rPr lang="en-GB" sz="3600" i="1" dirty="0"/>
              <a:t>message reaches </a:t>
            </a:r>
            <a:r>
              <a:rPr lang="en-GB" sz="3600" dirty="0"/>
              <a:t>the target audience and that the </a:t>
            </a:r>
            <a:r>
              <a:rPr lang="en-GB" sz="3600" i="1" dirty="0"/>
              <a:t>receiver understands </a:t>
            </a:r>
            <a:r>
              <a:rPr lang="en-GB" sz="3600" dirty="0"/>
              <a:t>and </a:t>
            </a:r>
            <a:r>
              <a:rPr lang="en-GB" sz="3600" i="1" dirty="0"/>
              <a:t>responds</a:t>
            </a:r>
            <a:r>
              <a:rPr lang="en-GB" sz="3600" dirty="0"/>
              <a:t> to the message appropriately.</a:t>
            </a:r>
            <a:endParaRPr lang="en-US" sz="3600" dirty="0"/>
          </a:p>
          <a:p>
            <a:endParaRPr lang="en-GB" dirty="0"/>
          </a:p>
        </p:txBody>
      </p:sp>
    </p:spTree>
    <p:extLst>
      <p:ext uri="{BB962C8B-B14F-4D97-AF65-F5344CB8AC3E}">
        <p14:creationId xmlns:p14="http://schemas.microsoft.com/office/powerpoint/2010/main" val="2090698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408" y="188640"/>
            <a:ext cx="10657184" cy="576064"/>
          </a:xfrm>
        </p:spPr>
        <p:txBody>
          <a:bodyPr>
            <a:normAutofit fontScale="90000"/>
          </a:bodyPr>
          <a:lstStyle/>
          <a:p>
            <a:r>
              <a:rPr lang="en-GB" sz="3200" dirty="0"/>
              <a:t>GENERAL DEFINITIONS OF COMMUNICATION</a:t>
            </a:r>
            <a:endParaRPr lang="en-GB" sz="3200" dirty="0">
              <a:solidFill>
                <a:srgbClr val="FF0000"/>
              </a:solidFill>
            </a:endParaRPr>
          </a:p>
        </p:txBody>
      </p:sp>
      <p:sp>
        <p:nvSpPr>
          <p:cNvPr id="3" name="Content Placeholder 2"/>
          <p:cNvSpPr>
            <a:spLocks noGrp="1"/>
          </p:cNvSpPr>
          <p:nvPr>
            <p:ph idx="1"/>
          </p:nvPr>
        </p:nvSpPr>
        <p:spPr>
          <a:xfrm>
            <a:off x="767408" y="764704"/>
            <a:ext cx="10729192" cy="5781476"/>
          </a:xfrm>
        </p:spPr>
        <p:txBody>
          <a:bodyPr>
            <a:normAutofit lnSpcReduction="10000"/>
          </a:bodyPr>
          <a:lstStyle/>
          <a:p>
            <a:pPr algn="just"/>
            <a:r>
              <a:rPr lang="en-GB" dirty="0"/>
              <a:t>Communication has been defined differently by different writers and behavioural theorists. Some popular definitions are –</a:t>
            </a:r>
          </a:p>
          <a:p>
            <a:pPr algn="just"/>
            <a:r>
              <a:rPr lang="en-GB" dirty="0"/>
              <a:t>Technical definition:</a:t>
            </a:r>
          </a:p>
          <a:p>
            <a:pPr algn="just">
              <a:buFont typeface="Wingdings" pitchFamily="2" charset="2"/>
              <a:buChar char="v"/>
            </a:pPr>
            <a:r>
              <a:rPr lang="en-GB" dirty="0"/>
              <a:t>Communication is simply ‘sending and receiving messages, or the transmission of messages from one person to another’ (Steinberg, 2006).</a:t>
            </a:r>
          </a:p>
          <a:p>
            <a:pPr algn="just">
              <a:buFont typeface="Wingdings" pitchFamily="2" charset="2"/>
              <a:buChar char="v"/>
            </a:pPr>
            <a:r>
              <a:rPr lang="en-GB" dirty="0"/>
              <a:t>The technical definition is lineal and gives the idea of a one-way communication, which involves the sending of information from a source to a receiver. </a:t>
            </a:r>
          </a:p>
          <a:p>
            <a:pPr algn="just">
              <a:buFont typeface="Wingdings" pitchFamily="2" charset="2"/>
              <a:buChar char="v"/>
            </a:pPr>
            <a:r>
              <a:rPr lang="en-GB" dirty="0"/>
              <a:t>Some elements in the communication process are overlooked.</a:t>
            </a:r>
          </a:p>
          <a:p>
            <a:pPr algn="just">
              <a:buFont typeface="Wingdings" pitchFamily="2" charset="2"/>
              <a:buChar char="v"/>
            </a:pPr>
            <a:endParaRPr lang="en-GB" dirty="0"/>
          </a:p>
          <a:p>
            <a:pPr algn="just"/>
            <a:endParaRPr lang="en-GB" dirty="0"/>
          </a:p>
          <a:p>
            <a:pPr algn="just"/>
            <a:endParaRPr lang="en-GB" dirty="0"/>
          </a:p>
          <a:p>
            <a:pPr algn="just"/>
            <a:endParaRPr lang="en-GB" dirty="0"/>
          </a:p>
          <a:p>
            <a:pPr algn="just"/>
            <a:endParaRPr lang="en-GB"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97ECF-3233-498E-BDA5-457D05085136}"/>
              </a:ext>
            </a:extLst>
          </p:cNvPr>
          <p:cNvSpPr>
            <a:spLocks noGrp="1"/>
          </p:cNvSpPr>
          <p:nvPr>
            <p:ph type="title"/>
          </p:nvPr>
        </p:nvSpPr>
        <p:spPr>
          <a:xfrm>
            <a:off x="609600" y="274638"/>
            <a:ext cx="10972800" cy="457198"/>
          </a:xfrm>
        </p:spPr>
        <p:txBody>
          <a:bodyPr>
            <a:normAutofit fontScale="90000"/>
          </a:bodyPr>
          <a:lstStyle/>
          <a:p>
            <a:r>
              <a:rPr lang="en-GB" dirty="0"/>
              <a:t>GENERAL DEFINITIONS OF COMMUNICATION</a:t>
            </a:r>
          </a:p>
        </p:txBody>
      </p:sp>
      <p:sp>
        <p:nvSpPr>
          <p:cNvPr id="3" name="Content Placeholder 2">
            <a:extLst>
              <a:ext uri="{FF2B5EF4-FFF2-40B4-BE49-F238E27FC236}">
                <a16:creationId xmlns:a16="http://schemas.microsoft.com/office/drawing/2014/main" id="{2B1F695A-0DEE-4322-A591-EE9EED64F4F9}"/>
              </a:ext>
            </a:extLst>
          </p:cNvPr>
          <p:cNvSpPr>
            <a:spLocks noGrp="1"/>
          </p:cNvSpPr>
          <p:nvPr>
            <p:ph idx="1"/>
          </p:nvPr>
        </p:nvSpPr>
        <p:spPr>
          <a:xfrm>
            <a:off x="609600" y="836713"/>
            <a:ext cx="10972800" cy="5289452"/>
          </a:xfrm>
        </p:spPr>
        <p:txBody>
          <a:bodyPr/>
          <a:lstStyle/>
          <a:p>
            <a:pPr>
              <a:buNone/>
            </a:pPr>
            <a:r>
              <a:rPr lang="en-GB" b="1" i="1" dirty="0"/>
              <a:t>The process Definition </a:t>
            </a:r>
          </a:p>
          <a:p>
            <a:pPr algn="just">
              <a:buFont typeface="Wingdings" pitchFamily="2" charset="2"/>
              <a:buChar char="v"/>
            </a:pPr>
            <a:r>
              <a:rPr lang="en-GB" dirty="0"/>
              <a:t>This category looks at communication as a complex, dynamic process of exchanging meaningful messages (Steinberg, 2006).</a:t>
            </a:r>
          </a:p>
          <a:p>
            <a:pPr marL="0" indent="0" algn="just">
              <a:buNone/>
            </a:pPr>
            <a:endParaRPr lang="en-GB" dirty="0"/>
          </a:p>
          <a:p>
            <a:pPr algn="just">
              <a:buFont typeface="Wingdings" pitchFamily="2" charset="2"/>
              <a:buChar char="v"/>
            </a:pPr>
            <a:r>
              <a:rPr lang="en-GB" dirty="0"/>
              <a:t>In addition to the </a:t>
            </a:r>
            <a:r>
              <a:rPr lang="en-GB" b="1" i="1" dirty="0"/>
              <a:t>transmission</a:t>
            </a:r>
            <a:r>
              <a:rPr lang="en-GB" dirty="0"/>
              <a:t> of messages, it emphasizes </a:t>
            </a:r>
            <a:r>
              <a:rPr lang="en-GB" b="1" i="1" dirty="0"/>
              <a:t>interpretation </a:t>
            </a:r>
            <a:r>
              <a:rPr lang="en-GB" dirty="0"/>
              <a:t>and </a:t>
            </a:r>
            <a:r>
              <a:rPr lang="en-GB" b="1" i="1" dirty="0"/>
              <a:t>meaning</a:t>
            </a:r>
            <a:r>
              <a:rPr lang="en-GB" dirty="0"/>
              <a:t> which are not mentioned in the technical definition. </a:t>
            </a:r>
          </a:p>
          <a:p>
            <a:endParaRPr lang="en-GB" dirty="0"/>
          </a:p>
          <a:p>
            <a:r>
              <a:rPr lang="en-GB" dirty="0"/>
              <a:t>There is no fixed sender and receiver. </a:t>
            </a:r>
          </a:p>
          <a:p>
            <a:endParaRPr lang="en-GB" dirty="0"/>
          </a:p>
        </p:txBody>
      </p:sp>
    </p:spTree>
    <p:extLst>
      <p:ext uri="{BB962C8B-B14F-4D97-AF65-F5344CB8AC3E}">
        <p14:creationId xmlns:p14="http://schemas.microsoft.com/office/powerpoint/2010/main" val="1844181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D31F4-25EF-46EF-AF6E-0B14DC904073}"/>
              </a:ext>
            </a:extLst>
          </p:cNvPr>
          <p:cNvSpPr>
            <a:spLocks noGrp="1"/>
          </p:cNvSpPr>
          <p:nvPr>
            <p:ph type="title"/>
          </p:nvPr>
        </p:nvSpPr>
        <p:spPr>
          <a:xfrm>
            <a:off x="609600" y="0"/>
            <a:ext cx="10972800" cy="548680"/>
          </a:xfrm>
        </p:spPr>
        <p:txBody>
          <a:bodyPr>
            <a:normAutofit fontScale="90000"/>
          </a:bodyPr>
          <a:lstStyle/>
          <a:p>
            <a:r>
              <a:rPr lang="en-GB" dirty="0"/>
              <a:t>GENERAL DEFINITIONS OF COMMUNICATION</a:t>
            </a:r>
          </a:p>
        </p:txBody>
      </p:sp>
      <p:sp>
        <p:nvSpPr>
          <p:cNvPr id="3" name="Content Placeholder 2">
            <a:extLst>
              <a:ext uri="{FF2B5EF4-FFF2-40B4-BE49-F238E27FC236}">
                <a16:creationId xmlns:a16="http://schemas.microsoft.com/office/drawing/2014/main" id="{D7021C44-00A7-4043-BE33-396ACF73503A}"/>
              </a:ext>
            </a:extLst>
          </p:cNvPr>
          <p:cNvSpPr>
            <a:spLocks noGrp="1"/>
          </p:cNvSpPr>
          <p:nvPr>
            <p:ph idx="1"/>
          </p:nvPr>
        </p:nvSpPr>
        <p:spPr>
          <a:xfrm>
            <a:off x="609600" y="548680"/>
            <a:ext cx="10972800" cy="5577485"/>
          </a:xfrm>
        </p:spPr>
        <p:txBody>
          <a:bodyPr>
            <a:normAutofit fontScale="70000" lnSpcReduction="20000"/>
          </a:bodyPr>
          <a:lstStyle/>
          <a:p>
            <a:pPr marL="514350" indent="-514350">
              <a:buNone/>
            </a:pPr>
            <a:r>
              <a:rPr lang="en-GB" b="1" i="1" dirty="0"/>
              <a:t>The Transactional Definition</a:t>
            </a:r>
          </a:p>
          <a:p>
            <a:pPr marL="514350" indent="-514350">
              <a:buFont typeface="Wingdings" pitchFamily="2" charset="2"/>
              <a:buChar char="v"/>
            </a:pPr>
            <a:r>
              <a:rPr lang="en-GB" dirty="0"/>
              <a:t>Communication is transactional, meaning participants are often </a:t>
            </a:r>
            <a:r>
              <a:rPr lang="en-GB" b="1" dirty="0"/>
              <a:t>simultaneously sending and receiving</a:t>
            </a:r>
            <a:r>
              <a:rPr lang="en-GB" dirty="0"/>
              <a:t> messages (through words, tone, gestures, facial expressions). </a:t>
            </a:r>
          </a:p>
          <a:p>
            <a:pPr marL="514350" indent="-514350" algn="just">
              <a:buFont typeface="Wingdings" pitchFamily="2" charset="2"/>
              <a:buChar char="v"/>
            </a:pPr>
            <a:endParaRPr lang="en-GB" dirty="0"/>
          </a:p>
          <a:p>
            <a:pPr marL="514350" indent="-514350" algn="just">
              <a:buFont typeface="Wingdings" pitchFamily="2" charset="2"/>
              <a:buChar char="v"/>
            </a:pPr>
            <a:endParaRPr lang="en-GB" dirty="0"/>
          </a:p>
          <a:p>
            <a:pPr marL="514350" indent="-514350" algn="just">
              <a:buFont typeface="Wingdings" pitchFamily="2" charset="2"/>
              <a:buChar char="v"/>
            </a:pPr>
            <a:r>
              <a:rPr lang="en-GB" dirty="0"/>
              <a:t>This involves exchanging messages and negotiating meaning to establish</a:t>
            </a:r>
          </a:p>
          <a:p>
            <a:pPr marL="0" indent="0" algn="just">
              <a:buNone/>
            </a:pPr>
            <a:r>
              <a:rPr lang="en-GB" dirty="0"/>
              <a:t>        and maintain relationship (Steinberg, 2006).</a:t>
            </a:r>
          </a:p>
          <a:p>
            <a:pPr marL="0" indent="0" algn="just">
              <a:buNone/>
            </a:pPr>
            <a:endParaRPr lang="en-GB" dirty="0"/>
          </a:p>
          <a:p>
            <a:pPr marL="514350" indent="-514350" algn="just">
              <a:buFont typeface="Wingdings" pitchFamily="2" charset="2"/>
              <a:buChar char="v"/>
            </a:pPr>
            <a:r>
              <a:rPr lang="en-GB" dirty="0"/>
              <a:t>This definition is an extension of the process definition.</a:t>
            </a:r>
          </a:p>
          <a:p>
            <a:pPr marL="0" indent="0" algn="just">
              <a:buNone/>
            </a:pPr>
            <a:r>
              <a:rPr lang="en-GB" dirty="0"/>
              <a:t> </a:t>
            </a:r>
          </a:p>
          <a:p>
            <a:pPr marL="514350" indent="-514350" algn="just">
              <a:buFont typeface="Wingdings" pitchFamily="2" charset="2"/>
              <a:buChar char="v"/>
            </a:pPr>
            <a:r>
              <a:rPr lang="en-GB" dirty="0"/>
              <a:t>Two parties are mutually involved in the outcomes of the process.</a:t>
            </a:r>
          </a:p>
          <a:p>
            <a:pPr marL="0" indent="0" algn="just">
              <a:buNone/>
            </a:pPr>
            <a:endParaRPr lang="en-GB" dirty="0"/>
          </a:p>
          <a:p>
            <a:pPr marL="514350" indent="-514350" algn="just">
              <a:buFont typeface="Wingdings" pitchFamily="2" charset="2"/>
              <a:buChar char="v"/>
            </a:pPr>
            <a:r>
              <a:rPr lang="en-GB" dirty="0"/>
              <a:t> The </a:t>
            </a:r>
            <a:r>
              <a:rPr lang="en-GB" i="1" dirty="0"/>
              <a:t>quality of the relationship </a:t>
            </a:r>
            <a:r>
              <a:rPr lang="en-GB" dirty="0"/>
              <a:t>as well as the </a:t>
            </a:r>
            <a:r>
              <a:rPr lang="en-GB" i="1" dirty="0"/>
              <a:t>exchange and interpretation</a:t>
            </a:r>
            <a:r>
              <a:rPr lang="en-GB" dirty="0"/>
              <a:t> of messages are central to this definition.</a:t>
            </a:r>
          </a:p>
          <a:p>
            <a:pPr marL="0" indent="0" algn="just">
              <a:buNone/>
            </a:pPr>
            <a:r>
              <a:rPr lang="en-GB" dirty="0">
                <a:solidFill>
                  <a:schemeClr val="tx2">
                    <a:lumMod val="60000"/>
                    <a:lumOff val="40000"/>
                  </a:schemeClr>
                </a:solidFill>
              </a:rPr>
              <a:t> </a:t>
            </a:r>
          </a:p>
          <a:p>
            <a:pPr marL="0" indent="0">
              <a:buNone/>
            </a:pPr>
            <a:endParaRPr lang="en-GB" dirty="0"/>
          </a:p>
        </p:txBody>
      </p:sp>
    </p:spTree>
    <p:extLst>
      <p:ext uri="{BB962C8B-B14F-4D97-AF65-F5344CB8AC3E}">
        <p14:creationId xmlns:p14="http://schemas.microsoft.com/office/powerpoint/2010/main" val="1952901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F8352-4C60-4E26-9DD3-7EBD34B1F3AC}"/>
              </a:ext>
            </a:extLst>
          </p:cNvPr>
          <p:cNvSpPr>
            <a:spLocks noGrp="1"/>
          </p:cNvSpPr>
          <p:nvPr>
            <p:ph type="title"/>
          </p:nvPr>
        </p:nvSpPr>
        <p:spPr>
          <a:xfrm>
            <a:off x="609600" y="0"/>
            <a:ext cx="10972800" cy="620688"/>
          </a:xfrm>
        </p:spPr>
        <p:txBody>
          <a:bodyPr>
            <a:normAutofit fontScale="90000"/>
          </a:bodyPr>
          <a:lstStyle/>
          <a:p>
            <a:r>
              <a:rPr lang="en-GB" dirty="0"/>
              <a:t>GENERAL DEFINITIONS OF COMMUNICATION</a:t>
            </a:r>
          </a:p>
        </p:txBody>
      </p:sp>
      <p:sp>
        <p:nvSpPr>
          <p:cNvPr id="3" name="Content Placeholder 2">
            <a:extLst>
              <a:ext uri="{FF2B5EF4-FFF2-40B4-BE49-F238E27FC236}">
                <a16:creationId xmlns:a16="http://schemas.microsoft.com/office/drawing/2014/main" id="{485D7891-CC8B-482E-AA9D-EC5389288E92}"/>
              </a:ext>
            </a:extLst>
          </p:cNvPr>
          <p:cNvSpPr>
            <a:spLocks noGrp="1"/>
          </p:cNvSpPr>
          <p:nvPr>
            <p:ph idx="1"/>
          </p:nvPr>
        </p:nvSpPr>
        <p:spPr>
          <a:xfrm>
            <a:off x="609600" y="620688"/>
            <a:ext cx="10972800" cy="5760639"/>
          </a:xfrm>
        </p:spPr>
        <p:txBody>
          <a:bodyPr>
            <a:normAutofit lnSpcReduction="10000"/>
          </a:bodyPr>
          <a:lstStyle/>
          <a:p>
            <a:pPr algn="just"/>
            <a:r>
              <a:rPr lang="en-GB" b="1" i="1" dirty="0"/>
              <a:t>Other definitions:</a:t>
            </a:r>
          </a:p>
          <a:p>
            <a:pPr algn="just"/>
            <a:r>
              <a:rPr lang="en-GB" dirty="0"/>
              <a:t>Communication is commonly understood as the transmission of information from a sender to a receiver via a medium, to create understanding (</a:t>
            </a:r>
            <a:r>
              <a:rPr lang="en-GB" dirty="0" err="1"/>
              <a:t>Danesi</a:t>
            </a:r>
            <a:r>
              <a:rPr lang="en-GB" dirty="0"/>
              <a:t>, 2013).</a:t>
            </a:r>
          </a:p>
          <a:p>
            <a:pPr algn="just"/>
            <a:endParaRPr lang="en-GB" dirty="0"/>
          </a:p>
          <a:p>
            <a:pPr algn="just"/>
            <a:r>
              <a:rPr lang="en-GB" dirty="0"/>
              <a:t>It is the process of people sharing thoughts, ideas, and feelings in commonly understandable ways (Hamilton 2005).  </a:t>
            </a:r>
          </a:p>
          <a:p>
            <a:pPr algn="just"/>
            <a:endParaRPr lang="en-GB" dirty="0"/>
          </a:p>
          <a:p>
            <a:pPr algn="just"/>
            <a:r>
              <a:rPr lang="en-GB" dirty="0"/>
              <a:t>Communication is a shared meaning created among two or more people through verbal and non-verbal transactions (Daniels and Spiker 1994).</a:t>
            </a:r>
          </a:p>
          <a:p>
            <a:pPr algn="just"/>
            <a:endParaRPr lang="en-GB" dirty="0"/>
          </a:p>
          <a:p>
            <a:pPr marL="0" indent="0" algn="just">
              <a:buNone/>
            </a:pPr>
            <a:endParaRPr lang="en-GB" dirty="0"/>
          </a:p>
        </p:txBody>
      </p:sp>
    </p:spTree>
    <p:extLst>
      <p:ext uri="{BB962C8B-B14F-4D97-AF65-F5344CB8AC3E}">
        <p14:creationId xmlns:p14="http://schemas.microsoft.com/office/powerpoint/2010/main" val="3930689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C4947-83AB-484F-B4EB-A222085DC8B1}"/>
              </a:ext>
            </a:extLst>
          </p:cNvPr>
          <p:cNvSpPr>
            <a:spLocks noGrp="1"/>
          </p:cNvSpPr>
          <p:nvPr>
            <p:ph type="title"/>
          </p:nvPr>
        </p:nvSpPr>
        <p:spPr>
          <a:xfrm>
            <a:off x="609600" y="116632"/>
            <a:ext cx="10972800" cy="615204"/>
          </a:xfrm>
        </p:spPr>
        <p:txBody>
          <a:bodyPr>
            <a:normAutofit fontScale="90000"/>
          </a:bodyPr>
          <a:lstStyle/>
          <a:p>
            <a:r>
              <a:rPr lang="en-GB" dirty="0"/>
              <a:t>GENERAL DEFINITIONS OF COMMUNICATION</a:t>
            </a:r>
          </a:p>
        </p:txBody>
      </p:sp>
      <p:sp>
        <p:nvSpPr>
          <p:cNvPr id="3" name="Content Placeholder 2">
            <a:extLst>
              <a:ext uri="{FF2B5EF4-FFF2-40B4-BE49-F238E27FC236}">
                <a16:creationId xmlns:a16="http://schemas.microsoft.com/office/drawing/2014/main" id="{5A3932B5-B3CC-4B0F-8D92-7FB4CEEA81D4}"/>
              </a:ext>
            </a:extLst>
          </p:cNvPr>
          <p:cNvSpPr>
            <a:spLocks noGrp="1"/>
          </p:cNvSpPr>
          <p:nvPr>
            <p:ph idx="1"/>
          </p:nvPr>
        </p:nvSpPr>
        <p:spPr>
          <a:xfrm>
            <a:off x="609600" y="908721"/>
            <a:ext cx="10972800" cy="5217444"/>
          </a:xfrm>
        </p:spPr>
        <p:txBody>
          <a:bodyPr>
            <a:normAutofit fontScale="92500" lnSpcReduction="10000"/>
          </a:bodyPr>
          <a:lstStyle/>
          <a:p>
            <a:pPr algn="just"/>
            <a:r>
              <a:rPr lang="en-GB" dirty="0"/>
              <a:t>The transmission of information, ideas, emotions, skills, etc., by the use of symbols, words, pictures, figures, graphs (</a:t>
            </a:r>
            <a:r>
              <a:rPr lang="en-GB" dirty="0" err="1"/>
              <a:t>Berelson</a:t>
            </a:r>
            <a:r>
              <a:rPr lang="en-GB" dirty="0"/>
              <a:t> and Steiner).</a:t>
            </a:r>
          </a:p>
          <a:p>
            <a:pPr algn="just"/>
            <a:endParaRPr lang="en-GB" dirty="0"/>
          </a:p>
          <a:p>
            <a:pPr algn="just"/>
            <a:r>
              <a:rPr lang="en-GB" dirty="0"/>
              <a:t>Communication is a process involving participants exchanging signs and signals in context-sensitive, interactive ways that require shared understanding of meaning (</a:t>
            </a:r>
            <a:r>
              <a:rPr lang="de-DE" dirty="0"/>
              <a:t>Röhner, &amp; Schütz,2023).</a:t>
            </a:r>
            <a:endParaRPr lang="en-GB" dirty="0"/>
          </a:p>
          <a:p>
            <a:pPr marL="0" indent="0">
              <a:buNone/>
            </a:pPr>
            <a:endParaRPr lang="en-GB" dirty="0"/>
          </a:p>
          <a:p>
            <a:pPr algn="just"/>
            <a:r>
              <a:rPr lang="en-GB" dirty="0"/>
              <a:t>It is a process involving the selection, production, and transmission of signs in such a way as to help a receiver perceive a meaning similar to that in the mind of the communicator (Fotheringham).</a:t>
            </a:r>
          </a:p>
        </p:txBody>
      </p:sp>
    </p:spTree>
    <p:extLst>
      <p:ext uri="{BB962C8B-B14F-4D97-AF65-F5344CB8AC3E}">
        <p14:creationId xmlns:p14="http://schemas.microsoft.com/office/powerpoint/2010/main" val="4226327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0"/>
            <a:ext cx="10945216" cy="548680"/>
          </a:xfrm>
        </p:spPr>
        <p:txBody>
          <a:bodyPr>
            <a:normAutofit/>
          </a:bodyPr>
          <a:lstStyle/>
          <a:p>
            <a:r>
              <a:rPr lang="en-GB" sz="2800" b="1" i="1" dirty="0"/>
              <a:t>Working definition </a:t>
            </a:r>
          </a:p>
        </p:txBody>
      </p:sp>
      <p:sp>
        <p:nvSpPr>
          <p:cNvPr id="3" name="Content Placeholder 2"/>
          <p:cNvSpPr>
            <a:spLocks noGrp="1"/>
          </p:cNvSpPr>
          <p:nvPr>
            <p:ph idx="1"/>
          </p:nvPr>
        </p:nvSpPr>
        <p:spPr>
          <a:xfrm>
            <a:off x="695400" y="548680"/>
            <a:ext cx="10873208" cy="6048672"/>
          </a:xfrm>
        </p:spPr>
        <p:txBody>
          <a:bodyPr>
            <a:normAutofit fontScale="92500" lnSpcReduction="10000"/>
          </a:bodyPr>
          <a:lstStyle/>
          <a:p>
            <a:pPr algn="just"/>
            <a:r>
              <a:rPr lang="en-GB" dirty="0"/>
              <a:t>Communication is the process of transmitting information and meaning from one individual or organisation to another by means of mutually </a:t>
            </a:r>
            <a:r>
              <a:rPr lang="en-GB" b="1" dirty="0"/>
              <a:t>understandable symbols </a:t>
            </a:r>
            <a:r>
              <a:rPr lang="en-GB" dirty="0"/>
              <a:t>(</a:t>
            </a:r>
            <a:r>
              <a:rPr lang="en-GB" dirty="0" err="1"/>
              <a:t>Ligawa</a:t>
            </a:r>
            <a:r>
              <a:rPr lang="en-GB" dirty="0"/>
              <a:t>, 2021).</a:t>
            </a:r>
          </a:p>
          <a:p>
            <a:pPr algn="just"/>
            <a:endParaRPr lang="en-GB" dirty="0"/>
          </a:p>
          <a:p>
            <a:pPr algn="just"/>
            <a:r>
              <a:rPr lang="en-GB" dirty="0"/>
              <a:t>Communication is the act of giving, receiving or exchanging information, ideas and opinions so that the message is </a:t>
            </a:r>
            <a:r>
              <a:rPr lang="en-GB" b="1" i="1" dirty="0"/>
              <a:t>completely</a:t>
            </a:r>
            <a:r>
              <a:rPr lang="en-GB" dirty="0"/>
              <a:t> </a:t>
            </a:r>
            <a:r>
              <a:rPr lang="en-GB" b="1" i="1" dirty="0"/>
              <a:t>understood </a:t>
            </a:r>
            <a:r>
              <a:rPr lang="en-GB" dirty="0"/>
              <a:t>by </a:t>
            </a:r>
            <a:r>
              <a:rPr lang="en-GB" b="1" i="1" dirty="0"/>
              <a:t>both parties</a:t>
            </a:r>
            <a:r>
              <a:rPr lang="en-GB" dirty="0"/>
              <a:t>.</a:t>
            </a:r>
          </a:p>
          <a:p>
            <a:pPr algn="just"/>
            <a:endParaRPr lang="en-GB" dirty="0"/>
          </a:p>
          <a:p>
            <a:pPr algn="just"/>
            <a:r>
              <a:rPr lang="en-GB" dirty="0"/>
              <a:t>It  is the transfer of information between people, resulting in </a:t>
            </a:r>
            <a:r>
              <a:rPr lang="en-GB" i="1" dirty="0"/>
              <a:t>common understanding </a:t>
            </a:r>
            <a:r>
              <a:rPr lang="en-GB" dirty="0"/>
              <a:t>between them.</a:t>
            </a:r>
            <a:endParaRPr lang="en-GB" b="1" i="1" dirty="0"/>
          </a:p>
          <a:p>
            <a:pPr algn="just"/>
            <a:endParaRPr lang="en-GB" dirty="0"/>
          </a:p>
          <a:p>
            <a:pPr algn="just"/>
            <a:r>
              <a:rPr lang="en-GB" dirty="0"/>
              <a:t>The crucial element is </a:t>
            </a:r>
            <a:r>
              <a:rPr lang="en-GB" b="1" i="1" dirty="0"/>
              <a:t>meaning or shared  understanding</a:t>
            </a:r>
            <a:r>
              <a:rPr lang="en-GB" dirty="0"/>
              <a:t>. </a:t>
            </a:r>
          </a:p>
          <a:p>
            <a:pPr algn="just"/>
            <a:endParaRPr lang="en-GB" dirty="0"/>
          </a:p>
          <a:p>
            <a:pPr algn="just"/>
            <a:endParaRPr lang="en-GB"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16778-9B8F-48C1-959C-995823FCD5F1}"/>
              </a:ext>
            </a:extLst>
          </p:cNvPr>
          <p:cNvSpPr>
            <a:spLocks noGrp="1"/>
          </p:cNvSpPr>
          <p:nvPr>
            <p:ph type="title"/>
          </p:nvPr>
        </p:nvSpPr>
        <p:spPr>
          <a:xfrm>
            <a:off x="609600" y="0"/>
            <a:ext cx="10972800" cy="764704"/>
          </a:xfrm>
        </p:spPr>
        <p:txBody>
          <a:bodyPr>
            <a:normAutofit/>
          </a:bodyPr>
          <a:lstStyle/>
          <a:p>
            <a:r>
              <a:rPr lang="en-GB" dirty="0"/>
              <a:t>Working definition</a:t>
            </a:r>
            <a:r>
              <a:rPr lang="en-GB" b="1" dirty="0"/>
              <a:t> </a:t>
            </a:r>
            <a:endParaRPr lang="en-GB" dirty="0"/>
          </a:p>
        </p:txBody>
      </p:sp>
      <p:sp>
        <p:nvSpPr>
          <p:cNvPr id="3" name="Content Placeholder 2">
            <a:extLst>
              <a:ext uri="{FF2B5EF4-FFF2-40B4-BE49-F238E27FC236}">
                <a16:creationId xmlns:a16="http://schemas.microsoft.com/office/drawing/2014/main" id="{4C978B24-9107-45B3-9361-91F456F9E068}"/>
              </a:ext>
            </a:extLst>
          </p:cNvPr>
          <p:cNvSpPr>
            <a:spLocks noGrp="1"/>
          </p:cNvSpPr>
          <p:nvPr>
            <p:ph idx="1"/>
          </p:nvPr>
        </p:nvSpPr>
        <p:spPr>
          <a:xfrm>
            <a:off x="609600" y="620688"/>
            <a:ext cx="10972800" cy="5760639"/>
          </a:xfrm>
        </p:spPr>
        <p:txBody>
          <a:bodyPr>
            <a:normAutofit fontScale="92500" lnSpcReduction="10000"/>
          </a:bodyPr>
          <a:lstStyle/>
          <a:p>
            <a:pPr algn="just"/>
            <a:r>
              <a:rPr lang="en-GB" dirty="0"/>
              <a:t>Communication has as its central objective the </a:t>
            </a:r>
            <a:r>
              <a:rPr lang="en-GB" i="1" dirty="0"/>
              <a:t>transmission of meaning.</a:t>
            </a:r>
          </a:p>
          <a:p>
            <a:pPr algn="just"/>
            <a:endParaRPr lang="en-GB" dirty="0"/>
          </a:p>
          <a:p>
            <a:pPr algn="just"/>
            <a:r>
              <a:rPr lang="en-GB" dirty="0"/>
              <a:t>The process of communication </a:t>
            </a:r>
            <a:r>
              <a:rPr lang="en-GB" b="1" i="1" dirty="0"/>
              <a:t>is successful only when the receiver understands an idea as the sender intended it. </a:t>
            </a:r>
            <a:r>
              <a:rPr lang="en-GB" i="1" dirty="0"/>
              <a:t>E.g. Advertisements, news stories, press releases that you write, the receivers must understand them as you intended.</a:t>
            </a:r>
          </a:p>
          <a:p>
            <a:pPr algn="just"/>
            <a:endParaRPr lang="en-GB" i="1" dirty="0"/>
          </a:p>
          <a:p>
            <a:pPr algn="just"/>
            <a:r>
              <a:rPr lang="en-GB" i="1" dirty="0"/>
              <a:t>Communication is successful when the receiver interprets the meaning in the same way as that intended by the sender.</a:t>
            </a:r>
          </a:p>
          <a:p>
            <a:pPr marL="0" indent="0" algn="just">
              <a:buNone/>
            </a:pPr>
            <a:endParaRPr lang="en-GB" i="1" dirty="0"/>
          </a:p>
          <a:p>
            <a:pPr algn="just"/>
            <a:r>
              <a:rPr lang="en-GB" i="1" dirty="0"/>
              <a:t>Both parties must agree on the meaning of that information. </a:t>
            </a:r>
          </a:p>
          <a:p>
            <a:pPr algn="just"/>
            <a:endParaRPr lang="en-GB" dirty="0"/>
          </a:p>
          <a:p>
            <a:endParaRPr lang="en-GB" dirty="0"/>
          </a:p>
        </p:txBody>
      </p:sp>
    </p:spTree>
    <p:extLst>
      <p:ext uri="{BB962C8B-B14F-4D97-AF65-F5344CB8AC3E}">
        <p14:creationId xmlns:p14="http://schemas.microsoft.com/office/powerpoint/2010/main" val="1497291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9376" y="271695"/>
            <a:ext cx="10801200" cy="706090"/>
          </a:xfrm>
        </p:spPr>
        <p:txBody>
          <a:bodyPr>
            <a:normAutofit/>
          </a:bodyPr>
          <a:lstStyle/>
          <a:p>
            <a:r>
              <a:rPr lang="en-GB" sz="2800" dirty="0"/>
              <a:t>Working definition</a:t>
            </a:r>
            <a:r>
              <a:rPr lang="en-GB" sz="2800" b="1" dirty="0"/>
              <a:t> </a:t>
            </a:r>
            <a:endParaRPr lang="en-GB" sz="2800" dirty="0"/>
          </a:p>
        </p:txBody>
      </p:sp>
      <p:sp>
        <p:nvSpPr>
          <p:cNvPr id="3" name="Content Placeholder 2"/>
          <p:cNvSpPr>
            <a:spLocks noGrp="1"/>
          </p:cNvSpPr>
          <p:nvPr>
            <p:ph idx="1"/>
          </p:nvPr>
        </p:nvSpPr>
        <p:spPr>
          <a:xfrm>
            <a:off x="767408" y="1052737"/>
            <a:ext cx="10729192" cy="5073427"/>
          </a:xfrm>
        </p:spPr>
        <p:txBody>
          <a:bodyPr>
            <a:normAutofit fontScale="92500" lnSpcReduction="10000"/>
          </a:bodyPr>
          <a:lstStyle/>
          <a:p>
            <a:pPr algn="just"/>
            <a:r>
              <a:rPr lang="en-GB" dirty="0"/>
              <a:t>In order to transfer an idea, we must use</a:t>
            </a:r>
            <a:r>
              <a:rPr lang="en-GB" i="1" dirty="0"/>
              <a:t> symbols (words, signs, pictures, sounds) </a:t>
            </a:r>
            <a:r>
              <a:rPr lang="en-GB" dirty="0"/>
              <a:t>which stand for the idea. </a:t>
            </a:r>
          </a:p>
          <a:p>
            <a:pPr algn="just"/>
            <a:endParaRPr lang="en-GB" dirty="0"/>
          </a:p>
          <a:p>
            <a:pPr algn="just"/>
            <a:r>
              <a:rPr lang="en-GB" dirty="0"/>
              <a:t>The symbols must be understood by the person or persons with whom we intend to communicate. </a:t>
            </a:r>
            <a:r>
              <a:rPr lang="en-GB" i="1" dirty="0"/>
              <a:t>Both must assign the same meaning to the symbols used; otherwise, there is miscommunication. </a:t>
            </a:r>
          </a:p>
          <a:p>
            <a:pPr algn="just"/>
            <a:endParaRPr lang="en-GB" dirty="0"/>
          </a:p>
          <a:p>
            <a:pPr algn="just"/>
            <a:r>
              <a:rPr lang="en-GB" dirty="0"/>
              <a:t>Sometimes, different people attach different meanings to the words, pictures, sounds, and gestures used during communication.</a:t>
            </a:r>
          </a:p>
          <a:p>
            <a:pPr algn="just"/>
            <a:endParaRPr lang="en-GB" dirty="0"/>
          </a:p>
          <a:p>
            <a:pPr algn="just"/>
            <a:endParaRPr lang="en-GB" dirty="0"/>
          </a:p>
          <a:p>
            <a:pPr marL="0" indent="0" algn="just">
              <a:buNone/>
            </a:pPr>
            <a:endParaRPr lang="en-GB"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0"/>
            <a:ext cx="10441160" cy="476672"/>
          </a:xfrm>
        </p:spPr>
        <p:txBody>
          <a:bodyPr>
            <a:noAutofit/>
          </a:bodyPr>
          <a:lstStyle/>
          <a:p>
            <a:r>
              <a:rPr lang="en-GB" sz="2800" dirty="0"/>
              <a:t>Working definition</a:t>
            </a:r>
          </a:p>
        </p:txBody>
      </p:sp>
      <p:sp>
        <p:nvSpPr>
          <p:cNvPr id="3" name="Content Placeholder 2"/>
          <p:cNvSpPr>
            <a:spLocks noGrp="1"/>
          </p:cNvSpPr>
          <p:nvPr>
            <p:ph idx="1"/>
          </p:nvPr>
        </p:nvSpPr>
        <p:spPr>
          <a:xfrm>
            <a:off x="623392" y="476672"/>
            <a:ext cx="10873208" cy="6120680"/>
          </a:xfrm>
        </p:spPr>
        <p:txBody>
          <a:bodyPr>
            <a:normAutofit/>
          </a:bodyPr>
          <a:lstStyle/>
          <a:p>
            <a:pPr algn="just"/>
            <a:r>
              <a:rPr lang="en-GB" sz="4000" dirty="0"/>
              <a:t>When the message is wrongly interpreted, the communication is a failure. </a:t>
            </a:r>
          </a:p>
          <a:p>
            <a:pPr algn="just"/>
            <a:endParaRPr lang="en-GB" sz="4000" dirty="0"/>
          </a:p>
          <a:p>
            <a:pPr algn="just"/>
            <a:r>
              <a:rPr lang="en-GB" sz="4000" dirty="0"/>
              <a:t>This may be due to several reasons, which we will examine later. </a:t>
            </a:r>
          </a:p>
          <a:p>
            <a:pPr algn="just"/>
            <a:endParaRPr lang="en-GB" sz="4000" dirty="0"/>
          </a:p>
          <a:p>
            <a:pPr algn="just"/>
            <a:r>
              <a:rPr lang="en-GB" sz="4000" dirty="0"/>
              <a:t>Communication is a skill and like any skill, it requires practice.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5400" y="0"/>
            <a:ext cx="10441160" cy="548680"/>
          </a:xfrm>
        </p:spPr>
        <p:txBody>
          <a:bodyPr>
            <a:noAutofit/>
          </a:bodyPr>
          <a:lstStyle/>
          <a:p>
            <a:r>
              <a:rPr lang="en-GB" sz="3600" dirty="0"/>
              <a:t>Effective Communication</a:t>
            </a:r>
          </a:p>
        </p:txBody>
      </p:sp>
      <p:sp>
        <p:nvSpPr>
          <p:cNvPr id="3" name="Content Placeholder 2"/>
          <p:cNvSpPr>
            <a:spLocks noGrp="1"/>
          </p:cNvSpPr>
          <p:nvPr>
            <p:ph idx="1"/>
          </p:nvPr>
        </p:nvSpPr>
        <p:spPr>
          <a:xfrm>
            <a:off x="695400" y="476672"/>
            <a:ext cx="10945216" cy="6381328"/>
          </a:xfrm>
        </p:spPr>
        <p:txBody>
          <a:bodyPr>
            <a:normAutofit fontScale="85000" lnSpcReduction="20000"/>
          </a:bodyPr>
          <a:lstStyle/>
          <a:p>
            <a:pPr algn="just"/>
            <a:r>
              <a:rPr lang="en-GB" sz="3300" dirty="0"/>
              <a:t>Effective communication is the </a:t>
            </a:r>
            <a:r>
              <a:rPr lang="en-GB" sz="3300" b="1" i="1" dirty="0"/>
              <a:t>simultaneous, identical</a:t>
            </a:r>
            <a:r>
              <a:rPr lang="en-GB" sz="3300" i="1" dirty="0"/>
              <a:t> </a:t>
            </a:r>
            <a:r>
              <a:rPr lang="en-GB" sz="3300" b="1" i="1" dirty="0"/>
              <a:t>understanding of the content and intent of a message </a:t>
            </a:r>
            <a:r>
              <a:rPr lang="en-GB" sz="3300" dirty="0"/>
              <a:t>by the sender and the receiver. </a:t>
            </a:r>
          </a:p>
          <a:p>
            <a:pPr algn="just"/>
            <a:endParaRPr lang="en-GB" sz="3300" dirty="0"/>
          </a:p>
          <a:p>
            <a:pPr algn="just"/>
            <a:r>
              <a:rPr lang="en-GB" sz="3300" dirty="0"/>
              <a:t>This occurs when the </a:t>
            </a:r>
            <a:r>
              <a:rPr lang="en-GB" sz="3300" i="1" dirty="0"/>
              <a:t>intended message of the sender and the interpreted meaning of the receiver are the same</a:t>
            </a:r>
            <a:r>
              <a:rPr lang="en-GB" sz="3300" dirty="0"/>
              <a:t>.</a:t>
            </a:r>
          </a:p>
          <a:p>
            <a:pPr algn="just"/>
            <a:endParaRPr lang="en-GB" sz="3300" dirty="0"/>
          </a:p>
          <a:p>
            <a:pPr algn="just"/>
            <a:endParaRPr lang="en-GB" sz="3300" dirty="0"/>
          </a:p>
          <a:p>
            <a:pPr algn="just"/>
            <a:r>
              <a:rPr lang="en-GB" sz="3300" dirty="0"/>
              <a:t>When messages are decoded exactly as the sender has intended, the images of the sender and the images of the receiver match, then </a:t>
            </a:r>
            <a:r>
              <a:rPr lang="en-GB" sz="3300" b="1" i="1" dirty="0"/>
              <a:t>effective communication occurs</a:t>
            </a:r>
            <a:r>
              <a:rPr lang="en-GB" sz="3300" dirty="0"/>
              <a:t>.</a:t>
            </a:r>
          </a:p>
          <a:p>
            <a:pPr algn="just"/>
            <a:endParaRPr lang="en-GB" sz="3300" dirty="0"/>
          </a:p>
          <a:p>
            <a:pPr algn="just"/>
            <a:r>
              <a:rPr lang="en-GB" sz="3300" dirty="0"/>
              <a:t>If someone achieves the desired level of objective through communication, we can say that it is “effective communication”.</a:t>
            </a:r>
          </a:p>
          <a:p>
            <a:pPr algn="just"/>
            <a:endParaRPr lang="en-GB" dirty="0"/>
          </a:p>
          <a:p>
            <a:pPr marL="0" indent="0" algn="just">
              <a:buNone/>
            </a:pPr>
            <a:r>
              <a:rPr lang="en-GB"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88640"/>
            <a:ext cx="10972800" cy="720080"/>
          </a:xfrm>
        </p:spPr>
        <p:txBody>
          <a:bodyPr>
            <a:normAutofit fontScale="90000"/>
          </a:bodyPr>
          <a:lstStyle/>
          <a:p>
            <a:br>
              <a:rPr lang="en-GB" u="sng" dirty="0">
                <a:solidFill>
                  <a:schemeClr val="tx1"/>
                </a:solidFill>
              </a:rPr>
            </a:br>
            <a:r>
              <a:rPr lang="en-GB" u="sng" dirty="0">
                <a:solidFill>
                  <a:schemeClr val="tx1"/>
                </a:solidFill>
              </a:rPr>
              <a:t>Effective communication</a:t>
            </a:r>
            <a:br>
              <a:rPr lang="en-GB" dirty="0"/>
            </a:br>
            <a:endParaRPr lang="en-GB" dirty="0"/>
          </a:p>
        </p:txBody>
      </p:sp>
      <p:sp>
        <p:nvSpPr>
          <p:cNvPr id="3" name="Content Placeholder 2"/>
          <p:cNvSpPr>
            <a:spLocks noGrp="1"/>
          </p:cNvSpPr>
          <p:nvPr>
            <p:ph idx="1"/>
          </p:nvPr>
        </p:nvSpPr>
        <p:spPr>
          <a:xfrm>
            <a:off x="0" y="1196752"/>
            <a:ext cx="11952651" cy="5661248"/>
          </a:xfrm>
        </p:spPr>
        <p:txBody>
          <a:bodyPr>
            <a:normAutofit/>
          </a:bodyPr>
          <a:lstStyle/>
          <a:p>
            <a:r>
              <a:rPr lang="en-GB" dirty="0"/>
              <a:t> Sender          Message       Receiver	     Message   </a:t>
            </a:r>
          </a:p>
          <a:p>
            <a:r>
              <a:rPr lang="en-GB" dirty="0"/>
              <a:t>    A 	           B	             C	                B</a:t>
            </a:r>
          </a:p>
          <a:p>
            <a:endParaRPr lang="en-GB" dirty="0"/>
          </a:p>
          <a:p>
            <a:r>
              <a:rPr lang="en-GB" dirty="0"/>
              <a:t>In effective communication, both sender A and receiver C have the same message i.e. message B.</a:t>
            </a:r>
          </a:p>
          <a:p>
            <a:endParaRPr lang="en-GB" dirty="0"/>
          </a:p>
          <a:p>
            <a:r>
              <a:rPr lang="en-GB" dirty="0"/>
              <a:t>Sometimes, people misunderstand each other and misinterpret information.  That is called ineffective communication</a:t>
            </a:r>
          </a:p>
          <a:p>
            <a:endParaRPr lang="en-GB" dirty="0"/>
          </a:p>
          <a:p>
            <a:endParaRPr lang="en-GB" dirty="0"/>
          </a:p>
          <a:p>
            <a:endParaRPr lang="en-GB" dirty="0"/>
          </a:p>
        </p:txBody>
      </p:sp>
      <p:sp>
        <p:nvSpPr>
          <p:cNvPr id="6" name="Right Arrow 5"/>
          <p:cNvSpPr/>
          <p:nvPr/>
        </p:nvSpPr>
        <p:spPr>
          <a:xfrm>
            <a:off x="1127448" y="1941961"/>
            <a:ext cx="1728192"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7" name="Right Arrow 6"/>
          <p:cNvSpPr/>
          <p:nvPr/>
        </p:nvSpPr>
        <p:spPr>
          <a:xfrm>
            <a:off x="3229580" y="1917267"/>
            <a:ext cx="1632181" cy="288032"/>
          </a:xfrm>
          <a:prstGeom prst="rightArrow">
            <a:avLst>
              <a:gd name="adj1" fmla="val 50000"/>
              <a:gd name="adj2" fmla="val 4609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
        <p:nvSpPr>
          <p:cNvPr id="8" name="Right Arrow 7"/>
          <p:cNvSpPr/>
          <p:nvPr/>
        </p:nvSpPr>
        <p:spPr>
          <a:xfrm>
            <a:off x="5231904" y="1899933"/>
            <a:ext cx="1728192" cy="360040"/>
          </a:xfrm>
          <a:prstGeom prst="rightArrow">
            <a:avLst>
              <a:gd name="adj1" fmla="val 50000"/>
              <a:gd name="adj2" fmla="val 363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F9FB2-108A-4BC8-B634-D7FB7399B4F6}"/>
              </a:ext>
            </a:extLst>
          </p:cNvPr>
          <p:cNvSpPr>
            <a:spLocks noGrp="1"/>
          </p:cNvSpPr>
          <p:nvPr>
            <p:ph type="title"/>
          </p:nvPr>
        </p:nvSpPr>
        <p:spPr>
          <a:xfrm>
            <a:off x="609600" y="274638"/>
            <a:ext cx="10972800" cy="706090"/>
          </a:xfrm>
        </p:spPr>
        <p:txBody>
          <a:bodyPr>
            <a:normAutofit fontScale="90000"/>
          </a:bodyPr>
          <a:lstStyle/>
          <a:p>
            <a:r>
              <a:rPr lang="en-GB" dirty="0"/>
              <a:t>Effective Communication</a:t>
            </a:r>
          </a:p>
        </p:txBody>
      </p:sp>
      <p:sp>
        <p:nvSpPr>
          <p:cNvPr id="3" name="Content Placeholder 2">
            <a:extLst>
              <a:ext uri="{FF2B5EF4-FFF2-40B4-BE49-F238E27FC236}">
                <a16:creationId xmlns:a16="http://schemas.microsoft.com/office/drawing/2014/main" id="{73F09833-C13C-4C8F-BA6C-89F1E3D32F3A}"/>
              </a:ext>
            </a:extLst>
          </p:cNvPr>
          <p:cNvSpPr>
            <a:spLocks noGrp="1"/>
          </p:cNvSpPr>
          <p:nvPr>
            <p:ph idx="1"/>
          </p:nvPr>
        </p:nvSpPr>
        <p:spPr>
          <a:xfrm>
            <a:off x="609600" y="980728"/>
            <a:ext cx="10972800" cy="5328591"/>
          </a:xfrm>
        </p:spPr>
        <p:txBody>
          <a:bodyPr>
            <a:normAutofit lnSpcReduction="10000"/>
          </a:bodyPr>
          <a:lstStyle/>
          <a:p>
            <a:pPr algn="just"/>
            <a:r>
              <a:rPr lang="en-GB" dirty="0"/>
              <a:t>The extent to which </a:t>
            </a:r>
            <a:r>
              <a:rPr lang="en-GB" b="1" i="1" dirty="0"/>
              <a:t>shared meaning </a:t>
            </a:r>
            <a:r>
              <a:rPr lang="en-GB" i="1" dirty="0"/>
              <a:t>or </a:t>
            </a:r>
            <a:r>
              <a:rPr lang="en-GB" b="1" i="1" dirty="0"/>
              <a:t>common interpretation occurs among parties involved </a:t>
            </a:r>
            <a:r>
              <a:rPr lang="en-GB" dirty="0"/>
              <a:t>in the process determines how effective the communication has been. </a:t>
            </a:r>
          </a:p>
          <a:p>
            <a:pPr marL="0" indent="0">
              <a:buNone/>
            </a:pPr>
            <a:endParaRPr lang="en-GB" dirty="0"/>
          </a:p>
          <a:p>
            <a:r>
              <a:rPr lang="en-GB" dirty="0"/>
              <a:t>While the sender must sharpen and </a:t>
            </a:r>
            <a:r>
              <a:rPr lang="en-GB" i="1" dirty="0"/>
              <a:t>improve skills of speaking and writing, the receiver must improve skills of listening and reading.</a:t>
            </a:r>
          </a:p>
          <a:p>
            <a:pPr algn="just"/>
            <a:endParaRPr lang="en-GB" dirty="0"/>
          </a:p>
          <a:p>
            <a:pPr algn="just"/>
            <a:r>
              <a:rPr lang="en-GB" dirty="0"/>
              <a:t>Being an effective communicator involves establishing a personal connection with the audience. </a:t>
            </a:r>
          </a:p>
        </p:txBody>
      </p:sp>
    </p:spTree>
    <p:extLst>
      <p:ext uri="{BB962C8B-B14F-4D97-AF65-F5344CB8AC3E}">
        <p14:creationId xmlns:p14="http://schemas.microsoft.com/office/powerpoint/2010/main" val="2483067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408" y="0"/>
            <a:ext cx="10585176" cy="620688"/>
          </a:xfrm>
        </p:spPr>
        <p:txBody>
          <a:bodyPr>
            <a:noAutofit/>
          </a:bodyPr>
          <a:lstStyle/>
          <a:p>
            <a:r>
              <a:rPr lang="en-GB" sz="3200" dirty="0"/>
              <a:t>Effective Communication</a:t>
            </a:r>
          </a:p>
        </p:txBody>
      </p:sp>
      <p:sp>
        <p:nvSpPr>
          <p:cNvPr id="3" name="Content Placeholder 2"/>
          <p:cNvSpPr>
            <a:spLocks noGrp="1"/>
          </p:cNvSpPr>
          <p:nvPr>
            <p:ph idx="1"/>
          </p:nvPr>
        </p:nvSpPr>
        <p:spPr>
          <a:xfrm>
            <a:off x="623392" y="476672"/>
            <a:ext cx="10945216" cy="6381328"/>
          </a:xfrm>
        </p:spPr>
        <p:txBody>
          <a:bodyPr>
            <a:noAutofit/>
          </a:bodyPr>
          <a:lstStyle/>
          <a:p>
            <a:pPr marL="0" indent="0" algn="just">
              <a:buNone/>
            </a:pPr>
            <a:r>
              <a:rPr lang="en-GB" sz="2400" dirty="0"/>
              <a:t>In order for communication to be effective, it is important to know the following: </a:t>
            </a:r>
          </a:p>
          <a:p>
            <a:pPr algn="just"/>
            <a:endParaRPr lang="en-GB" sz="2400" dirty="0"/>
          </a:p>
          <a:p>
            <a:pPr algn="just"/>
            <a:r>
              <a:rPr lang="en-GB" sz="2400" b="1" dirty="0"/>
              <a:t>WHO-</a:t>
            </a:r>
            <a:r>
              <a:rPr lang="en-GB" sz="2400" dirty="0"/>
              <a:t> you are communicating with e.g. consider audience’s information needs, technical background, cultural background, knowledge of the subject.</a:t>
            </a:r>
          </a:p>
          <a:p>
            <a:pPr algn="just"/>
            <a:endParaRPr lang="en-GB" sz="2400" dirty="0"/>
          </a:p>
          <a:p>
            <a:pPr marL="0" indent="0" algn="just">
              <a:buNone/>
            </a:pPr>
            <a:r>
              <a:rPr lang="en-GB" sz="2400" dirty="0"/>
              <a:t>• </a:t>
            </a:r>
            <a:r>
              <a:rPr lang="en-GB" sz="2400" b="1" dirty="0"/>
              <a:t>WHAT-</a:t>
            </a:r>
            <a:r>
              <a:rPr lang="en-GB" sz="2400" dirty="0"/>
              <a:t> you are communicating- the message should be adequate for the subject. </a:t>
            </a:r>
          </a:p>
          <a:p>
            <a:pPr marL="0" indent="0" algn="just">
              <a:buNone/>
            </a:pPr>
            <a:endParaRPr lang="en-GB" sz="2400" dirty="0"/>
          </a:p>
          <a:p>
            <a:pPr algn="just"/>
            <a:r>
              <a:rPr lang="en-GB" sz="2400" b="1" dirty="0"/>
              <a:t>WHY</a:t>
            </a:r>
            <a:r>
              <a:rPr lang="en-GB" sz="2400" dirty="0"/>
              <a:t>- what you want to achieve, what the goal for the communication is.</a:t>
            </a:r>
          </a:p>
          <a:p>
            <a:pPr marL="0" indent="0" algn="just">
              <a:buNone/>
            </a:pPr>
            <a:endParaRPr lang="en-GB" sz="2400" dirty="0"/>
          </a:p>
          <a:p>
            <a:pPr marL="0" indent="0" algn="just">
              <a:buNone/>
            </a:pPr>
            <a:r>
              <a:rPr lang="en-GB" sz="2400" b="1" dirty="0"/>
              <a:t>• WHEN- </a:t>
            </a:r>
            <a:r>
              <a:rPr lang="en-GB" sz="2400" dirty="0"/>
              <a:t>you will communicate the issue. </a:t>
            </a:r>
          </a:p>
          <a:p>
            <a:pPr marL="0" indent="0" algn="just">
              <a:buNone/>
            </a:pPr>
            <a:endParaRPr lang="en-GB" sz="2400" dirty="0"/>
          </a:p>
          <a:p>
            <a:pPr algn="just"/>
            <a:r>
              <a:rPr lang="en-GB" sz="2400" b="1" dirty="0"/>
              <a:t>HOW-</a:t>
            </a:r>
            <a:r>
              <a:rPr lang="en-GB" sz="2400" dirty="0"/>
              <a:t> you will communicate the issue. Think about the method you will choose.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015F2-E2BE-40F5-8317-52245CE9CB33}"/>
              </a:ext>
            </a:extLst>
          </p:cNvPr>
          <p:cNvSpPr>
            <a:spLocks noGrp="1"/>
          </p:cNvSpPr>
          <p:nvPr>
            <p:ph type="title"/>
          </p:nvPr>
        </p:nvSpPr>
        <p:spPr>
          <a:xfrm>
            <a:off x="609600" y="113689"/>
            <a:ext cx="10972800" cy="720080"/>
          </a:xfrm>
        </p:spPr>
        <p:txBody>
          <a:bodyPr>
            <a:normAutofit fontScale="90000"/>
          </a:bodyPr>
          <a:lstStyle/>
          <a:p>
            <a:r>
              <a:rPr lang="en-GB" dirty="0"/>
              <a:t>Real-life examples of ineffective communication</a:t>
            </a:r>
          </a:p>
        </p:txBody>
      </p:sp>
      <p:sp>
        <p:nvSpPr>
          <p:cNvPr id="5" name="Content Placeholder 4">
            <a:extLst>
              <a:ext uri="{FF2B5EF4-FFF2-40B4-BE49-F238E27FC236}">
                <a16:creationId xmlns:a16="http://schemas.microsoft.com/office/drawing/2014/main" id="{D5A7E950-7273-48C3-9E40-05D0DAC486C2}"/>
              </a:ext>
            </a:extLst>
          </p:cNvPr>
          <p:cNvSpPr>
            <a:spLocks noGrp="1"/>
          </p:cNvSpPr>
          <p:nvPr>
            <p:ph idx="1"/>
          </p:nvPr>
        </p:nvSpPr>
        <p:spPr>
          <a:xfrm>
            <a:off x="609600" y="833768"/>
            <a:ext cx="10972800" cy="5475551"/>
          </a:xfrm>
        </p:spPr>
        <p:txBody>
          <a:bodyPr>
            <a:normAutofit fontScale="92500" lnSpcReduction="20000"/>
          </a:bodyPr>
          <a:lstStyle/>
          <a:p>
            <a:r>
              <a:rPr lang="en-GB" dirty="0"/>
              <a:t>1. Use of jargon with a wrong audience.</a:t>
            </a:r>
          </a:p>
          <a:p>
            <a:r>
              <a:rPr lang="en-GB" dirty="0"/>
              <a:t> Example to a non-technical person.</a:t>
            </a:r>
          </a:p>
          <a:p>
            <a:r>
              <a:rPr lang="en-GB" b="1" i="1" dirty="0"/>
              <a:t>Example 1: “You need to reconfigure the router’s DNS setting.”</a:t>
            </a:r>
          </a:p>
          <a:p>
            <a:pPr marL="0" indent="0">
              <a:buNone/>
            </a:pPr>
            <a:endParaRPr lang="en-GB" b="1" i="1" dirty="0"/>
          </a:p>
          <a:p>
            <a:r>
              <a:rPr lang="en-GB" dirty="0"/>
              <a:t>An IT officer tells an administrative staff:</a:t>
            </a:r>
          </a:p>
          <a:p>
            <a:r>
              <a:rPr lang="en-GB" b="1" i="1" dirty="0"/>
              <a:t> Example 2: “The systems failure was caused by a backend integration bug”</a:t>
            </a:r>
          </a:p>
          <a:p>
            <a:endParaRPr lang="en-GB" dirty="0"/>
          </a:p>
          <a:p>
            <a:r>
              <a:rPr lang="en-GB" dirty="0"/>
              <a:t>Why they are ineffective: </a:t>
            </a:r>
          </a:p>
          <a:p>
            <a:r>
              <a:rPr lang="en-GB" dirty="0"/>
              <a:t>The receiver may not understand the technical terms.</a:t>
            </a:r>
          </a:p>
          <a:p>
            <a:r>
              <a:rPr lang="en-GB" dirty="0"/>
              <a:t>Message fails because meaning is not shared.</a:t>
            </a:r>
          </a:p>
          <a:p>
            <a:r>
              <a:rPr lang="en-GB" dirty="0"/>
              <a:t>Communication is only effective if the receiver understands it.</a:t>
            </a:r>
          </a:p>
        </p:txBody>
      </p:sp>
    </p:spTree>
    <p:extLst>
      <p:ext uri="{BB962C8B-B14F-4D97-AF65-F5344CB8AC3E}">
        <p14:creationId xmlns:p14="http://schemas.microsoft.com/office/powerpoint/2010/main" val="2204744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39F3B-05DF-40F0-AB2E-B23AB3342630}"/>
              </a:ext>
            </a:extLst>
          </p:cNvPr>
          <p:cNvSpPr>
            <a:spLocks noGrp="1"/>
          </p:cNvSpPr>
          <p:nvPr>
            <p:ph type="title"/>
          </p:nvPr>
        </p:nvSpPr>
        <p:spPr>
          <a:xfrm>
            <a:off x="609600" y="116632"/>
            <a:ext cx="10972800" cy="792088"/>
          </a:xfrm>
        </p:spPr>
        <p:txBody>
          <a:bodyPr>
            <a:normAutofit fontScale="90000"/>
          </a:bodyPr>
          <a:lstStyle/>
          <a:p>
            <a:r>
              <a:rPr lang="en-GB" dirty="0"/>
              <a:t>Real-life examples of ineffective communication</a:t>
            </a:r>
          </a:p>
        </p:txBody>
      </p:sp>
      <p:sp>
        <p:nvSpPr>
          <p:cNvPr id="3" name="Content Placeholder 2">
            <a:extLst>
              <a:ext uri="{FF2B5EF4-FFF2-40B4-BE49-F238E27FC236}">
                <a16:creationId xmlns:a16="http://schemas.microsoft.com/office/drawing/2014/main" id="{64EDF50A-1F3C-4D7B-BDDA-EC9A60C901DB}"/>
              </a:ext>
            </a:extLst>
          </p:cNvPr>
          <p:cNvSpPr>
            <a:spLocks noGrp="1"/>
          </p:cNvSpPr>
          <p:nvPr>
            <p:ph idx="1"/>
          </p:nvPr>
        </p:nvSpPr>
        <p:spPr>
          <a:xfrm>
            <a:off x="609600" y="908720"/>
            <a:ext cx="10972800" cy="5544615"/>
          </a:xfrm>
        </p:spPr>
        <p:txBody>
          <a:bodyPr/>
          <a:lstStyle/>
          <a:p>
            <a:r>
              <a:rPr lang="en-GB" dirty="0"/>
              <a:t>2. Overloaded message</a:t>
            </a:r>
          </a:p>
          <a:p>
            <a:r>
              <a:rPr lang="en-GB" dirty="0"/>
              <a:t>Example: </a:t>
            </a:r>
            <a:r>
              <a:rPr lang="en-GB" b="1" i="1" dirty="0"/>
              <a:t>You wrote a long email with 10 instructions in one paragraph.</a:t>
            </a:r>
          </a:p>
          <a:p>
            <a:endParaRPr lang="en-GB" dirty="0"/>
          </a:p>
          <a:p>
            <a:r>
              <a:rPr lang="en-GB" dirty="0"/>
              <a:t>Why it is ineffective: </a:t>
            </a:r>
          </a:p>
          <a:p>
            <a:r>
              <a:rPr lang="en-GB" dirty="0"/>
              <a:t>Too much information at once.</a:t>
            </a:r>
          </a:p>
          <a:p>
            <a:r>
              <a:rPr lang="en-GB" dirty="0"/>
              <a:t>Key points are buried. </a:t>
            </a:r>
          </a:p>
          <a:p>
            <a:r>
              <a:rPr lang="en-GB" dirty="0"/>
              <a:t>Receiver may ignore or forget important details.</a:t>
            </a:r>
          </a:p>
        </p:txBody>
      </p:sp>
    </p:spTree>
    <p:extLst>
      <p:ext uri="{BB962C8B-B14F-4D97-AF65-F5344CB8AC3E}">
        <p14:creationId xmlns:p14="http://schemas.microsoft.com/office/powerpoint/2010/main" val="35934026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E004F-E24D-4963-9382-AF1B2CBAAC31}"/>
              </a:ext>
            </a:extLst>
          </p:cNvPr>
          <p:cNvSpPr>
            <a:spLocks noGrp="1"/>
          </p:cNvSpPr>
          <p:nvPr>
            <p:ph type="title"/>
          </p:nvPr>
        </p:nvSpPr>
        <p:spPr>
          <a:xfrm>
            <a:off x="609600" y="0"/>
            <a:ext cx="10972800" cy="731836"/>
          </a:xfrm>
        </p:spPr>
        <p:txBody>
          <a:bodyPr>
            <a:normAutofit fontScale="90000"/>
          </a:bodyPr>
          <a:lstStyle/>
          <a:p>
            <a:r>
              <a:rPr lang="en-GB" dirty="0"/>
              <a:t>Real-life examples of ineffective communication</a:t>
            </a:r>
          </a:p>
        </p:txBody>
      </p:sp>
      <p:sp>
        <p:nvSpPr>
          <p:cNvPr id="3" name="Content Placeholder 2">
            <a:extLst>
              <a:ext uri="{FF2B5EF4-FFF2-40B4-BE49-F238E27FC236}">
                <a16:creationId xmlns:a16="http://schemas.microsoft.com/office/drawing/2014/main" id="{21F7ACDE-7716-4A20-A852-E892F952CD1C}"/>
              </a:ext>
            </a:extLst>
          </p:cNvPr>
          <p:cNvSpPr>
            <a:spLocks noGrp="1"/>
          </p:cNvSpPr>
          <p:nvPr>
            <p:ph idx="1"/>
          </p:nvPr>
        </p:nvSpPr>
        <p:spPr>
          <a:xfrm>
            <a:off x="609600" y="731837"/>
            <a:ext cx="10972800" cy="5394328"/>
          </a:xfrm>
        </p:spPr>
        <p:txBody>
          <a:bodyPr/>
          <a:lstStyle/>
          <a:p>
            <a:r>
              <a:rPr lang="en-GB" dirty="0"/>
              <a:t>3. Culturally insensitive message:</a:t>
            </a:r>
          </a:p>
          <a:p>
            <a:r>
              <a:rPr lang="en-GB" dirty="0"/>
              <a:t>Example: </a:t>
            </a:r>
          </a:p>
          <a:p>
            <a:r>
              <a:rPr lang="en-GB" b="1" i="1" dirty="0"/>
              <a:t>Example 1: Using gestures or expressions that are offensive in another culture.</a:t>
            </a:r>
          </a:p>
          <a:p>
            <a:endParaRPr lang="en-GB" dirty="0"/>
          </a:p>
          <a:p>
            <a:r>
              <a:rPr lang="en-GB" b="1" dirty="0"/>
              <a:t>Why it is ineffective: </a:t>
            </a:r>
          </a:p>
          <a:p>
            <a:r>
              <a:rPr lang="en-GB" dirty="0"/>
              <a:t>Meaning is misinterpreted</a:t>
            </a:r>
          </a:p>
          <a:p>
            <a:r>
              <a:rPr lang="en-GB" dirty="0"/>
              <a:t>Receiver feels disrespected</a:t>
            </a:r>
          </a:p>
          <a:p>
            <a:r>
              <a:rPr lang="en-GB" dirty="0"/>
              <a:t>Cultural context affects interpretation</a:t>
            </a:r>
          </a:p>
        </p:txBody>
      </p:sp>
    </p:spTree>
    <p:extLst>
      <p:ext uri="{BB962C8B-B14F-4D97-AF65-F5344CB8AC3E}">
        <p14:creationId xmlns:p14="http://schemas.microsoft.com/office/powerpoint/2010/main" val="3410846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58B2F-583B-4668-85DF-ED03A882F049}"/>
              </a:ext>
            </a:extLst>
          </p:cNvPr>
          <p:cNvSpPr>
            <a:spLocks noGrp="1"/>
          </p:cNvSpPr>
          <p:nvPr>
            <p:ph type="title"/>
          </p:nvPr>
        </p:nvSpPr>
        <p:spPr>
          <a:xfrm>
            <a:off x="609600" y="116632"/>
            <a:ext cx="10972800" cy="615204"/>
          </a:xfrm>
        </p:spPr>
        <p:txBody>
          <a:bodyPr>
            <a:normAutofit fontScale="90000"/>
          </a:bodyPr>
          <a:lstStyle/>
          <a:p>
            <a:r>
              <a:rPr lang="en-GB" dirty="0"/>
              <a:t>Real-life examples of ineffective communication</a:t>
            </a:r>
          </a:p>
        </p:txBody>
      </p:sp>
      <p:sp>
        <p:nvSpPr>
          <p:cNvPr id="3" name="Content Placeholder 2">
            <a:extLst>
              <a:ext uri="{FF2B5EF4-FFF2-40B4-BE49-F238E27FC236}">
                <a16:creationId xmlns:a16="http://schemas.microsoft.com/office/drawing/2014/main" id="{DF0075B5-C4D5-4423-BC2F-B13595B3C128}"/>
              </a:ext>
            </a:extLst>
          </p:cNvPr>
          <p:cNvSpPr>
            <a:spLocks noGrp="1"/>
          </p:cNvSpPr>
          <p:nvPr>
            <p:ph idx="1"/>
          </p:nvPr>
        </p:nvSpPr>
        <p:spPr>
          <a:xfrm>
            <a:off x="609600" y="980729"/>
            <a:ext cx="10972800" cy="5145436"/>
          </a:xfrm>
        </p:spPr>
        <p:txBody>
          <a:bodyPr/>
          <a:lstStyle/>
          <a:p>
            <a:r>
              <a:rPr lang="en-GB" b="1" i="1" dirty="0"/>
              <a:t>Example 2: A foreign manager uses direct, harsh language in a culture that values indirectness and politeness.</a:t>
            </a:r>
          </a:p>
          <a:p>
            <a:endParaRPr lang="en-GB" dirty="0"/>
          </a:p>
          <a:p>
            <a:r>
              <a:rPr lang="en-GB" dirty="0"/>
              <a:t>Why it is ineffective:</a:t>
            </a:r>
          </a:p>
          <a:p>
            <a:r>
              <a:rPr lang="en-GB" dirty="0"/>
              <a:t>Message is interpreted as rude.</a:t>
            </a:r>
          </a:p>
          <a:p>
            <a:r>
              <a:rPr lang="en-GB" dirty="0"/>
              <a:t>Cultural norms are ignored.</a:t>
            </a:r>
          </a:p>
          <a:p>
            <a:r>
              <a:rPr lang="en-GB" dirty="0"/>
              <a:t>Leads to resistance and poor morale.</a:t>
            </a:r>
          </a:p>
          <a:p>
            <a:endParaRPr lang="en-GB" b="1" i="1" dirty="0"/>
          </a:p>
        </p:txBody>
      </p:sp>
    </p:spTree>
    <p:extLst>
      <p:ext uri="{BB962C8B-B14F-4D97-AF65-F5344CB8AC3E}">
        <p14:creationId xmlns:p14="http://schemas.microsoft.com/office/powerpoint/2010/main" val="1152205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CE1F1-60AF-4B85-9FA2-93361962E8A2}"/>
              </a:ext>
            </a:extLst>
          </p:cNvPr>
          <p:cNvSpPr>
            <a:spLocks noGrp="1"/>
          </p:cNvSpPr>
          <p:nvPr>
            <p:ph type="title"/>
          </p:nvPr>
        </p:nvSpPr>
        <p:spPr>
          <a:xfrm>
            <a:off x="609600" y="0"/>
            <a:ext cx="10972800" cy="731836"/>
          </a:xfrm>
        </p:spPr>
        <p:txBody>
          <a:bodyPr>
            <a:normAutofit fontScale="90000"/>
          </a:bodyPr>
          <a:lstStyle/>
          <a:p>
            <a:r>
              <a:rPr lang="en-GB" dirty="0"/>
              <a:t>Real-life examples of ineffective communication</a:t>
            </a:r>
          </a:p>
        </p:txBody>
      </p:sp>
      <p:sp>
        <p:nvSpPr>
          <p:cNvPr id="3" name="Content Placeholder 2">
            <a:extLst>
              <a:ext uri="{FF2B5EF4-FFF2-40B4-BE49-F238E27FC236}">
                <a16:creationId xmlns:a16="http://schemas.microsoft.com/office/drawing/2014/main" id="{A1A04486-AA25-4FF1-9C89-F4A6014C2C83}"/>
              </a:ext>
            </a:extLst>
          </p:cNvPr>
          <p:cNvSpPr>
            <a:spLocks noGrp="1"/>
          </p:cNvSpPr>
          <p:nvPr>
            <p:ph idx="1"/>
          </p:nvPr>
        </p:nvSpPr>
        <p:spPr>
          <a:xfrm>
            <a:off x="609600" y="731837"/>
            <a:ext cx="10972800" cy="5394328"/>
          </a:xfrm>
        </p:spPr>
        <p:txBody>
          <a:bodyPr/>
          <a:lstStyle/>
          <a:p>
            <a:r>
              <a:rPr lang="en-GB" dirty="0"/>
              <a:t>4. Wrong Communication Channel</a:t>
            </a:r>
          </a:p>
          <a:p>
            <a:endParaRPr lang="en-GB" b="1" dirty="0"/>
          </a:p>
          <a:p>
            <a:r>
              <a:rPr lang="en-GB" dirty="0"/>
              <a:t>Example:</a:t>
            </a:r>
            <a:br>
              <a:rPr lang="en-GB" dirty="0"/>
            </a:br>
            <a:r>
              <a:rPr lang="en-GB" b="1" i="1" dirty="0"/>
              <a:t>Breaking bad news (e.g., job termination) via text message.</a:t>
            </a:r>
          </a:p>
          <a:p>
            <a:r>
              <a:rPr lang="en-GB" dirty="0"/>
              <a:t>Why it is ineffective:</a:t>
            </a:r>
          </a:p>
          <a:p>
            <a:r>
              <a:rPr lang="en-GB" dirty="0"/>
              <a:t>Lacks empathy and clarity</a:t>
            </a:r>
          </a:p>
          <a:p>
            <a:r>
              <a:rPr lang="en-GB" dirty="0"/>
              <a:t>No emotional support</a:t>
            </a:r>
          </a:p>
          <a:p>
            <a:r>
              <a:rPr lang="en-GB" dirty="0"/>
              <a:t>Channel does not match message importance</a:t>
            </a:r>
          </a:p>
        </p:txBody>
      </p:sp>
    </p:spTree>
    <p:extLst>
      <p:ext uri="{BB962C8B-B14F-4D97-AF65-F5344CB8AC3E}">
        <p14:creationId xmlns:p14="http://schemas.microsoft.com/office/powerpoint/2010/main" val="26038970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DFED6-4702-4BCD-AC3D-AFBA7745F749}"/>
              </a:ext>
            </a:extLst>
          </p:cNvPr>
          <p:cNvSpPr>
            <a:spLocks noGrp="1"/>
          </p:cNvSpPr>
          <p:nvPr>
            <p:ph type="title"/>
          </p:nvPr>
        </p:nvSpPr>
        <p:spPr>
          <a:xfrm>
            <a:off x="609600" y="188640"/>
            <a:ext cx="10972800" cy="648072"/>
          </a:xfrm>
        </p:spPr>
        <p:txBody>
          <a:bodyPr>
            <a:normAutofit fontScale="90000"/>
          </a:bodyPr>
          <a:lstStyle/>
          <a:p>
            <a:r>
              <a:rPr lang="en-GB" dirty="0"/>
              <a:t>Real-life examples of ineffective communication</a:t>
            </a:r>
          </a:p>
        </p:txBody>
      </p:sp>
      <p:sp>
        <p:nvSpPr>
          <p:cNvPr id="3" name="Content Placeholder 2">
            <a:extLst>
              <a:ext uri="{FF2B5EF4-FFF2-40B4-BE49-F238E27FC236}">
                <a16:creationId xmlns:a16="http://schemas.microsoft.com/office/drawing/2014/main" id="{84736E2A-5B9A-41E7-8C23-62B36209541E}"/>
              </a:ext>
            </a:extLst>
          </p:cNvPr>
          <p:cNvSpPr>
            <a:spLocks noGrp="1"/>
          </p:cNvSpPr>
          <p:nvPr>
            <p:ph idx="1"/>
          </p:nvPr>
        </p:nvSpPr>
        <p:spPr>
          <a:xfrm>
            <a:off x="609600" y="836713"/>
            <a:ext cx="10972800" cy="5289452"/>
          </a:xfrm>
        </p:spPr>
        <p:txBody>
          <a:bodyPr/>
          <a:lstStyle/>
          <a:p>
            <a:r>
              <a:rPr lang="en-GB" b="1" dirty="0"/>
              <a:t>Example:</a:t>
            </a:r>
            <a:br>
              <a:rPr lang="en-GB" dirty="0"/>
            </a:br>
            <a:r>
              <a:rPr lang="en-GB" b="1" i="1" dirty="0"/>
              <a:t>A supervisor criticizes an employee’s poor performance in a public WhatsApp group.</a:t>
            </a:r>
          </a:p>
          <a:p>
            <a:endParaRPr lang="en-GB" dirty="0"/>
          </a:p>
          <a:p>
            <a:r>
              <a:rPr lang="en-GB" dirty="0"/>
              <a:t>Why it is ineffective:</a:t>
            </a:r>
          </a:p>
          <a:p>
            <a:r>
              <a:rPr lang="en-GB" dirty="0"/>
              <a:t>Public channel causes embarrassment</a:t>
            </a:r>
          </a:p>
          <a:p>
            <a:r>
              <a:rPr lang="nn-NO" dirty="0"/>
              <a:t>Wrong medium for sensitive content.</a:t>
            </a:r>
            <a:endParaRPr lang="en-GB" dirty="0"/>
          </a:p>
        </p:txBody>
      </p:sp>
    </p:spTree>
    <p:extLst>
      <p:ext uri="{BB962C8B-B14F-4D97-AF65-F5344CB8AC3E}">
        <p14:creationId xmlns:p14="http://schemas.microsoft.com/office/powerpoint/2010/main" val="42850969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3DD73-4BD8-4C55-97C8-29287468F5EA}"/>
              </a:ext>
            </a:extLst>
          </p:cNvPr>
          <p:cNvSpPr>
            <a:spLocks noGrp="1"/>
          </p:cNvSpPr>
          <p:nvPr>
            <p:ph type="title"/>
          </p:nvPr>
        </p:nvSpPr>
        <p:spPr>
          <a:xfrm>
            <a:off x="609600" y="274638"/>
            <a:ext cx="10972800" cy="634082"/>
          </a:xfrm>
        </p:spPr>
        <p:txBody>
          <a:bodyPr>
            <a:normAutofit fontScale="90000"/>
          </a:bodyPr>
          <a:lstStyle/>
          <a:p>
            <a:r>
              <a:rPr lang="en-GB" dirty="0"/>
              <a:t>Real-life examples of ineffective communication</a:t>
            </a:r>
          </a:p>
        </p:txBody>
      </p:sp>
      <p:sp>
        <p:nvSpPr>
          <p:cNvPr id="3" name="Content Placeholder 2">
            <a:extLst>
              <a:ext uri="{FF2B5EF4-FFF2-40B4-BE49-F238E27FC236}">
                <a16:creationId xmlns:a16="http://schemas.microsoft.com/office/drawing/2014/main" id="{A86DE217-E449-4992-8FB8-A172DF011529}"/>
              </a:ext>
            </a:extLst>
          </p:cNvPr>
          <p:cNvSpPr>
            <a:spLocks noGrp="1"/>
          </p:cNvSpPr>
          <p:nvPr>
            <p:ph idx="1"/>
          </p:nvPr>
        </p:nvSpPr>
        <p:spPr>
          <a:xfrm>
            <a:off x="609600" y="908721"/>
            <a:ext cx="10972800" cy="5217444"/>
          </a:xfrm>
        </p:spPr>
        <p:txBody>
          <a:bodyPr/>
          <a:lstStyle/>
          <a:p>
            <a:r>
              <a:rPr lang="en-GB" dirty="0"/>
              <a:t>Assuming Understanding</a:t>
            </a:r>
          </a:p>
          <a:p>
            <a:endParaRPr lang="en-GB" dirty="0"/>
          </a:p>
          <a:p>
            <a:r>
              <a:rPr lang="en-GB" dirty="0"/>
              <a:t>Example: </a:t>
            </a:r>
            <a:r>
              <a:rPr lang="en-GB" b="1" i="1" dirty="0"/>
              <a:t>“You know what to do.”</a:t>
            </a:r>
          </a:p>
          <a:p>
            <a:endParaRPr lang="en-GB" dirty="0"/>
          </a:p>
          <a:p>
            <a:r>
              <a:rPr lang="en-GB" dirty="0"/>
              <a:t>Why it is ineffective:</a:t>
            </a:r>
          </a:p>
          <a:p>
            <a:r>
              <a:rPr lang="en-GB" dirty="0"/>
              <a:t>Relies on assumption instead of clarity</a:t>
            </a:r>
          </a:p>
          <a:p>
            <a:r>
              <a:rPr lang="en-GB" dirty="0"/>
              <a:t>Different people may interpret it differently</a:t>
            </a:r>
          </a:p>
          <a:p>
            <a:r>
              <a:rPr lang="en-GB" dirty="0"/>
              <a:t>Causes errors and frustration.</a:t>
            </a:r>
            <a:endParaRPr lang="en-GB" b="1" i="1" dirty="0"/>
          </a:p>
        </p:txBody>
      </p:sp>
    </p:spTree>
    <p:extLst>
      <p:ext uri="{BB962C8B-B14F-4D97-AF65-F5344CB8AC3E}">
        <p14:creationId xmlns:p14="http://schemas.microsoft.com/office/powerpoint/2010/main" val="1821975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980728"/>
          </a:xfrm>
        </p:spPr>
        <p:txBody>
          <a:bodyPr>
            <a:normAutofit/>
          </a:bodyPr>
          <a:lstStyle/>
          <a:p>
            <a:r>
              <a:rPr lang="en-US" sz="3200" dirty="0"/>
              <a:t>Characteristics of Communication</a:t>
            </a:r>
          </a:p>
        </p:txBody>
      </p:sp>
      <p:sp>
        <p:nvSpPr>
          <p:cNvPr id="3" name="Content Placeholder 2"/>
          <p:cNvSpPr>
            <a:spLocks noGrp="1"/>
          </p:cNvSpPr>
          <p:nvPr>
            <p:ph idx="1"/>
          </p:nvPr>
        </p:nvSpPr>
        <p:spPr>
          <a:xfrm>
            <a:off x="609600" y="836712"/>
            <a:ext cx="10972800" cy="5400599"/>
          </a:xfrm>
        </p:spPr>
        <p:txBody>
          <a:bodyPr>
            <a:normAutofit fontScale="92500" lnSpcReduction="10000"/>
          </a:bodyPr>
          <a:lstStyle/>
          <a:p>
            <a:r>
              <a:rPr lang="en-GB" dirty="0"/>
              <a:t>Communication has the following characteristics – </a:t>
            </a:r>
          </a:p>
          <a:p>
            <a:pPr marL="0" indent="0">
              <a:buNone/>
            </a:pPr>
            <a:endParaRPr lang="en-GB" dirty="0"/>
          </a:p>
          <a:p>
            <a:pPr algn="just">
              <a:buFont typeface="Wingdings" panose="05000000000000000000" pitchFamily="2" charset="2"/>
              <a:buChar char="ü"/>
            </a:pPr>
            <a:r>
              <a:rPr lang="en-GB" dirty="0"/>
              <a:t>It is unavoidable – It is impossible not to communicate, since we communicate unintentionally all the time, even without the use of words. Our body language, the way we dress, the importance we give to arriving at an event on time, our behaviour and the physical environment in which we work, all convey certain messages to others.</a:t>
            </a:r>
          </a:p>
          <a:p>
            <a:pPr marL="0" indent="0" algn="just">
              <a:buNone/>
            </a:pPr>
            <a:endParaRPr lang="en-GB" dirty="0"/>
          </a:p>
          <a:p>
            <a:pPr algn="just">
              <a:buFont typeface="Wingdings" panose="05000000000000000000" pitchFamily="2" charset="2"/>
              <a:buChar char="ü"/>
            </a:pPr>
            <a:r>
              <a:rPr lang="en-GB" dirty="0"/>
              <a:t>It is a two-way exchange of information – Communication is sharing of information between two or more persons, with continuous feedback.</a:t>
            </a:r>
            <a:endParaRPr lang="en-US" dirty="0"/>
          </a:p>
        </p:txBody>
      </p:sp>
    </p:spTree>
    <p:extLst>
      <p:ext uri="{BB962C8B-B14F-4D97-AF65-F5344CB8AC3E}">
        <p14:creationId xmlns:p14="http://schemas.microsoft.com/office/powerpoint/2010/main" val="6501701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34082"/>
          </a:xfrm>
        </p:spPr>
        <p:txBody>
          <a:bodyPr>
            <a:normAutofit/>
          </a:bodyPr>
          <a:lstStyle/>
          <a:p>
            <a:r>
              <a:rPr lang="en-US" sz="3200" dirty="0"/>
              <a:t>Characteristics of Communication</a:t>
            </a:r>
            <a:endParaRPr lang="en-GB" sz="3200" b="1" dirty="0"/>
          </a:p>
        </p:txBody>
      </p:sp>
      <p:sp>
        <p:nvSpPr>
          <p:cNvPr id="3" name="Content Placeholder 2"/>
          <p:cNvSpPr>
            <a:spLocks noGrp="1"/>
          </p:cNvSpPr>
          <p:nvPr>
            <p:ph idx="1"/>
          </p:nvPr>
        </p:nvSpPr>
        <p:spPr>
          <a:xfrm>
            <a:off x="609600" y="908721"/>
            <a:ext cx="10972800" cy="5217444"/>
          </a:xfrm>
        </p:spPr>
        <p:txBody>
          <a:bodyPr>
            <a:normAutofit lnSpcReduction="10000"/>
          </a:bodyPr>
          <a:lstStyle/>
          <a:p>
            <a:pPr algn="just">
              <a:buFont typeface="Wingdings" panose="05000000000000000000" pitchFamily="2" charset="2"/>
              <a:buChar char="ü"/>
            </a:pPr>
            <a:r>
              <a:rPr lang="en-GB" dirty="0"/>
              <a:t>It is a Process – Communication follows a procedure. </a:t>
            </a:r>
          </a:p>
          <a:p>
            <a:pPr marL="0" indent="0" algn="just">
              <a:buNone/>
            </a:pPr>
            <a:endParaRPr lang="en-GB" dirty="0"/>
          </a:p>
          <a:p>
            <a:pPr algn="just">
              <a:buFont typeface="Wingdings" panose="05000000000000000000" pitchFamily="2" charset="2"/>
              <a:buChar char="ü"/>
            </a:pPr>
            <a:r>
              <a:rPr lang="en-GB" dirty="0"/>
              <a:t>It involves a sender and a receiver of information – Any communication starts with a sender of a message and requires a receiver to attach some meaning to that message. </a:t>
            </a:r>
          </a:p>
          <a:p>
            <a:pPr marL="0" indent="0" algn="just">
              <a:buNone/>
            </a:pPr>
            <a:endParaRPr lang="en-GB" dirty="0"/>
          </a:p>
          <a:p>
            <a:pPr algn="just">
              <a:buFont typeface="Wingdings" panose="05000000000000000000" pitchFamily="2" charset="2"/>
              <a:buChar char="ü"/>
            </a:pPr>
            <a:r>
              <a:rPr lang="en-GB" dirty="0"/>
              <a:t>It could be verbal or non-verbal – Communication could be through the use of words in spoken or written form, or through the use of body language such as gestures and facial expressions.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551384" y="-57150"/>
            <a:ext cx="10801200" cy="836712"/>
          </a:xfrm>
        </p:spPr>
        <p:txBody>
          <a:bodyPr>
            <a:normAutofit/>
          </a:bodyPr>
          <a:lstStyle/>
          <a:p>
            <a:r>
              <a:rPr lang="en-GB" sz="4000" dirty="0"/>
              <a:t>Importance or benefits of communication</a:t>
            </a:r>
            <a:endParaRPr lang="en-US" sz="4000" b="1" dirty="0">
              <a:latin typeface="Times New Roman" pitchFamily="18" charset="0"/>
              <a:cs typeface="Times New Roman" pitchFamily="18" charset="0"/>
            </a:endParaRPr>
          </a:p>
        </p:txBody>
      </p:sp>
      <p:sp>
        <p:nvSpPr>
          <p:cNvPr id="5" name="Subtitle 4"/>
          <p:cNvSpPr>
            <a:spLocks noGrp="1"/>
          </p:cNvSpPr>
          <p:nvPr>
            <p:ph type="subTitle" idx="1"/>
          </p:nvPr>
        </p:nvSpPr>
        <p:spPr>
          <a:xfrm>
            <a:off x="767408" y="908720"/>
            <a:ext cx="10801200" cy="5616624"/>
          </a:xfrm>
        </p:spPr>
        <p:txBody>
          <a:bodyPr>
            <a:normAutofit fontScale="92500" lnSpcReduction="20000"/>
          </a:bodyPr>
          <a:lstStyle/>
          <a:p>
            <a:pPr marL="514350" indent="-514350" algn="just">
              <a:buAutoNum type="arabicPeriod"/>
            </a:pPr>
            <a:r>
              <a:rPr lang="en-GB" dirty="0">
                <a:solidFill>
                  <a:schemeClr val="tx1"/>
                </a:solidFill>
              </a:rPr>
              <a:t>Managerial efficiency:– Communication helps in smooth operation of management. It makes decision making easier for managers, and decisions are based on more complete and accurate information. Managerial functions such as planning, organizing, directing, controlling etc. can be conducted when there is good communication.</a:t>
            </a:r>
          </a:p>
          <a:p>
            <a:pPr marL="514350" indent="-514350" algn="just">
              <a:buAutoNum type="arabicPeriod"/>
            </a:pPr>
            <a:r>
              <a:rPr lang="en-GB" dirty="0">
                <a:solidFill>
                  <a:schemeClr val="tx1"/>
                </a:solidFill>
              </a:rPr>
              <a:t>Enhance morale and relations: – It motivates employees and helps them feel part of the business. It builds employees morale and cordial industrial relations between management and employees.</a:t>
            </a:r>
            <a:r>
              <a:rPr lang="en-GB" dirty="0"/>
              <a:t>. </a:t>
            </a:r>
            <a:r>
              <a:rPr lang="en-GB" dirty="0">
                <a:solidFill>
                  <a:schemeClr val="tx1"/>
                </a:solidFill>
              </a:rPr>
              <a:t>It leads to increased efficiency and helps to produce high quality goods and   services.</a:t>
            </a:r>
          </a:p>
          <a:p>
            <a:pPr marL="514350" indent="-514350" algn="just">
              <a:buAutoNum type="arabicPeriod"/>
            </a:pPr>
            <a:endParaRPr lang="en-GB" dirty="0">
              <a:solidFill>
                <a:schemeClr val="tx1"/>
              </a:solidFill>
            </a:endParaRPr>
          </a:p>
          <a:p>
            <a:pPr marL="514350" indent="-514350" algn="just">
              <a:buAutoNum type="arabicPeriod"/>
            </a:pPr>
            <a:r>
              <a:rPr lang="en-GB" dirty="0">
                <a:solidFill>
                  <a:schemeClr val="tx1"/>
                </a:solidFill>
              </a:rPr>
              <a:t>Effective leadership: – effective leadership depends upon effective communication. </a:t>
            </a:r>
            <a:endParaRPr lang="en-US"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548680"/>
          </a:xfrm>
        </p:spPr>
        <p:txBody>
          <a:bodyPr>
            <a:normAutofit fontScale="90000"/>
          </a:bodyPr>
          <a:lstStyle/>
          <a:p>
            <a:r>
              <a:rPr lang="en-GB" dirty="0"/>
              <a:t>Importance or benefits of Communication</a:t>
            </a:r>
            <a:endParaRPr lang="en-US" dirty="0"/>
          </a:p>
        </p:txBody>
      </p:sp>
      <p:sp>
        <p:nvSpPr>
          <p:cNvPr id="3" name="Content Placeholder 2"/>
          <p:cNvSpPr>
            <a:spLocks noGrp="1"/>
          </p:cNvSpPr>
          <p:nvPr>
            <p:ph idx="1"/>
          </p:nvPr>
        </p:nvSpPr>
        <p:spPr>
          <a:xfrm>
            <a:off x="479376" y="548680"/>
            <a:ext cx="11103024" cy="5832648"/>
          </a:xfrm>
        </p:spPr>
        <p:txBody>
          <a:bodyPr>
            <a:normAutofit fontScale="85000" lnSpcReduction="20000"/>
          </a:bodyPr>
          <a:lstStyle/>
          <a:p>
            <a:pPr algn="just"/>
            <a:r>
              <a:rPr lang="en-GB" dirty="0"/>
              <a:t>4. Mutual trust and confidence: – When there is effective communication, it helps to reduce misunderstanding and develop mutual trust. </a:t>
            </a:r>
          </a:p>
          <a:p>
            <a:pPr algn="just"/>
            <a:endParaRPr lang="en-GB" dirty="0"/>
          </a:p>
          <a:p>
            <a:pPr algn="just"/>
            <a:r>
              <a:rPr lang="en-GB" dirty="0"/>
              <a:t>5. Better decision:– When information, facts and data are communicated to concerned departments, organizations and persons, they are able to make decisions promptly and better.</a:t>
            </a:r>
          </a:p>
          <a:p>
            <a:pPr marL="0" indent="0" algn="just">
              <a:buNone/>
            </a:pPr>
            <a:endParaRPr lang="en-GB" dirty="0"/>
          </a:p>
          <a:p>
            <a:pPr marL="0" indent="0" algn="just">
              <a:buNone/>
            </a:pPr>
            <a:r>
              <a:rPr lang="en-GB" dirty="0"/>
              <a:t>    6. Easier to control and coordinate business activity– prevents different</a:t>
            </a:r>
          </a:p>
          <a:p>
            <a:pPr marL="0" indent="0" algn="just">
              <a:buNone/>
            </a:pPr>
            <a:r>
              <a:rPr lang="en-GB" dirty="0"/>
              <a:t>     parts of the business going in opposite direction.</a:t>
            </a:r>
          </a:p>
          <a:p>
            <a:pPr marL="0" indent="0" algn="just">
              <a:buNone/>
            </a:pPr>
            <a:endParaRPr lang="en-GB" dirty="0"/>
          </a:p>
          <a:p>
            <a:pPr marL="0" indent="0" algn="just">
              <a:buNone/>
            </a:pPr>
            <a:r>
              <a:rPr lang="en-GB" dirty="0"/>
              <a:t>   7. Better communication with customers can increase sales, improve</a:t>
            </a:r>
          </a:p>
          <a:p>
            <a:pPr marL="0" indent="0" algn="just">
              <a:buNone/>
            </a:pPr>
            <a:r>
              <a:rPr lang="en-GB" dirty="0"/>
              <a:t>     relationships with suppliers and lead to more reliable deliveries. It enables</a:t>
            </a:r>
          </a:p>
          <a:p>
            <a:pPr marL="0" indent="0" algn="just">
              <a:buNone/>
            </a:pPr>
            <a:r>
              <a:rPr lang="en-GB" dirty="0"/>
              <a:t>     organizations to respond promptly to the needs of customers and    other</a:t>
            </a:r>
          </a:p>
          <a:p>
            <a:pPr marL="0" indent="0" algn="just">
              <a:buNone/>
            </a:pPr>
            <a:r>
              <a:rPr lang="en-GB" dirty="0"/>
              <a:t>     stakeholders.</a:t>
            </a:r>
            <a:endParaRPr lang="en-US" dirty="0"/>
          </a:p>
        </p:txBody>
      </p:sp>
    </p:spTree>
    <p:extLst>
      <p:ext uri="{BB962C8B-B14F-4D97-AF65-F5344CB8AC3E}">
        <p14:creationId xmlns:p14="http://schemas.microsoft.com/office/powerpoint/2010/main" val="18010008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79991-BAA2-421B-9EC9-AAF0BB6A4FF6}"/>
              </a:ext>
            </a:extLst>
          </p:cNvPr>
          <p:cNvSpPr>
            <a:spLocks noGrp="1"/>
          </p:cNvSpPr>
          <p:nvPr>
            <p:ph type="title"/>
          </p:nvPr>
        </p:nvSpPr>
        <p:spPr/>
        <p:txBody>
          <a:bodyPr/>
          <a:lstStyle/>
          <a:p>
            <a:r>
              <a:rPr lang="en-GB" dirty="0"/>
              <a:t>Group Work</a:t>
            </a:r>
          </a:p>
        </p:txBody>
      </p:sp>
      <p:sp>
        <p:nvSpPr>
          <p:cNvPr id="3" name="Content Placeholder 2">
            <a:extLst>
              <a:ext uri="{FF2B5EF4-FFF2-40B4-BE49-F238E27FC236}">
                <a16:creationId xmlns:a16="http://schemas.microsoft.com/office/drawing/2014/main" id="{EE1C19B1-C592-4028-90E3-D0EEB06A1AAC}"/>
              </a:ext>
            </a:extLst>
          </p:cNvPr>
          <p:cNvSpPr>
            <a:spLocks noGrp="1"/>
          </p:cNvSpPr>
          <p:nvPr>
            <p:ph idx="1"/>
          </p:nvPr>
        </p:nvSpPr>
        <p:spPr/>
        <p:txBody>
          <a:bodyPr/>
          <a:lstStyle/>
          <a:p>
            <a:r>
              <a:rPr lang="en-GB" dirty="0"/>
              <a:t>Provide ten (10) examples of ineffective communications and explain why those communications are ineffective. Do not use the examples in the slide.</a:t>
            </a:r>
          </a:p>
        </p:txBody>
      </p:sp>
    </p:spTree>
    <p:extLst>
      <p:ext uri="{BB962C8B-B14F-4D97-AF65-F5344CB8AC3E}">
        <p14:creationId xmlns:p14="http://schemas.microsoft.com/office/powerpoint/2010/main" val="16491841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ctr"/>
            <a:r>
              <a:rPr lang="en-US" sz="4800" dirty="0"/>
              <a:t>END OF SLIDE</a:t>
            </a:r>
          </a:p>
          <a:p>
            <a:pPr algn="ctr"/>
            <a:r>
              <a:rPr lang="en-US" sz="4800" dirty="0"/>
              <a:t>THANK YOU</a:t>
            </a:r>
          </a:p>
        </p:txBody>
      </p:sp>
    </p:spTree>
    <p:extLst>
      <p:ext uri="{BB962C8B-B14F-4D97-AF65-F5344CB8AC3E}">
        <p14:creationId xmlns:p14="http://schemas.microsoft.com/office/powerpoint/2010/main" val="1126347267"/>
      </p:ext>
    </p:extLst>
  </p:cSld>
  <p:clrMapOvr>
    <a:masterClrMapping/>
  </p:clrMapOvr>
</p:sld>
</file>

<file path=ppt/theme/theme1.xml><?xml version="1.0" encoding="utf-8"?>
<a:theme xmlns:a="http://schemas.openxmlformats.org/drawingml/2006/main" name="Moodle PPT Presentation For Moodle Course Day 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27293</TotalTime>
  <Words>1949</Words>
  <Application>Microsoft Office PowerPoint</Application>
  <PresentationFormat>Widescreen</PresentationFormat>
  <Paragraphs>219</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Lucida Calligraphy</vt:lpstr>
      <vt:lpstr>Times New Roman</vt:lpstr>
      <vt:lpstr>Wingdings</vt:lpstr>
      <vt:lpstr>Moodle PPT Presentation For Moodle Course Day 1</vt:lpstr>
      <vt:lpstr>COVER PAGE</vt:lpstr>
      <vt:lpstr>The concept of communication  </vt:lpstr>
      <vt:lpstr>The concept of communication </vt:lpstr>
      <vt:lpstr>GENERAL DEFINITIONS OF COMMUNICATION</vt:lpstr>
      <vt:lpstr>GENERAL DEFINITIONS OF COMMUNICATION</vt:lpstr>
      <vt:lpstr>GENERAL DEFINITIONS OF COMMUNICATION</vt:lpstr>
      <vt:lpstr>GENERAL DEFINITIONS OF COMMUNICATION</vt:lpstr>
      <vt:lpstr>GENERAL DEFINITIONS OF COMMUNICATION</vt:lpstr>
      <vt:lpstr>Working definition </vt:lpstr>
      <vt:lpstr>Working definition </vt:lpstr>
      <vt:lpstr>Working definition </vt:lpstr>
      <vt:lpstr>Working definition</vt:lpstr>
      <vt:lpstr>Effective Communication</vt:lpstr>
      <vt:lpstr> Effective communication </vt:lpstr>
      <vt:lpstr>Effective Communication</vt:lpstr>
      <vt:lpstr>Effective Communication</vt:lpstr>
      <vt:lpstr>Real-life examples of ineffective communication</vt:lpstr>
      <vt:lpstr>Real-life examples of ineffective communication</vt:lpstr>
      <vt:lpstr>Real-life examples of ineffective communication</vt:lpstr>
      <vt:lpstr>Real-life examples of ineffective communication</vt:lpstr>
      <vt:lpstr>Real-life examples of ineffective communication</vt:lpstr>
      <vt:lpstr>Real-life examples of ineffective communication</vt:lpstr>
      <vt:lpstr>Real-life examples of ineffective communication</vt:lpstr>
      <vt:lpstr>Characteristics of Communication</vt:lpstr>
      <vt:lpstr>Characteristics of Communication</vt:lpstr>
      <vt:lpstr>Importance or benefits of communication</vt:lpstr>
      <vt:lpstr>Importance or benefits of Communication</vt:lpstr>
      <vt:lpstr>Group Work</vt:lpstr>
      <vt:lpstr>PowerPoint Presentation</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objective</dc:title>
  <dc:creator>Bright</dc:creator>
  <cp:lastModifiedBy>PC1</cp:lastModifiedBy>
  <cp:revision>837</cp:revision>
  <dcterms:created xsi:type="dcterms:W3CDTF">2013-08-15T09:37:01Z</dcterms:created>
  <dcterms:modified xsi:type="dcterms:W3CDTF">2026-02-05T11:46:57Z</dcterms:modified>
</cp:coreProperties>
</file>