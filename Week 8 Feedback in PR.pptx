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9" r:id="rId1"/>
  </p:sldMasterIdLst>
  <p:sldIdLst>
    <p:sldId id="256" r:id="rId2"/>
    <p:sldId id="300" r:id="rId3"/>
    <p:sldId id="301" r:id="rId4"/>
    <p:sldId id="302" r:id="rId5"/>
    <p:sldId id="303" r:id="rId6"/>
    <p:sldId id="304" r:id="rId7"/>
    <p:sldId id="293" r:id="rId8"/>
    <p:sldId id="307" r:id="rId9"/>
    <p:sldId id="308" r:id="rId10"/>
    <p:sldId id="298" r:id="rId11"/>
    <p:sldId id="289" r:id="rId12"/>
    <p:sldId id="278" r:id="rId13"/>
    <p:sldId id="290" r:id="rId14"/>
    <p:sldId id="279" r:id="rId15"/>
    <p:sldId id="259" r:id="rId16"/>
    <p:sldId id="291" r:id="rId17"/>
    <p:sldId id="305" r:id="rId18"/>
    <p:sldId id="30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82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14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21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00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041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0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74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760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298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084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32337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213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694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1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5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67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288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  <p:sldLayoutId id="2147483714" r:id="rId15"/>
    <p:sldLayoutId id="214748371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FEEDBACK IN PUBLIC RELATIONS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4</a:t>
            </a:r>
          </a:p>
        </p:txBody>
      </p:sp>
    </p:spTree>
    <p:extLst>
      <p:ext uri="{BB962C8B-B14F-4D97-AF65-F5344CB8AC3E}">
        <p14:creationId xmlns:p14="http://schemas.microsoft.com/office/powerpoint/2010/main" val="1601190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1F6A5-4D1F-496D-8453-E666712A7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24691"/>
            <a:ext cx="8911687" cy="822087"/>
          </a:xfrm>
        </p:spPr>
        <p:txBody>
          <a:bodyPr>
            <a:norm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concept of feedback in 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7F29F-1102-4D2B-8E66-3D4159D11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9927" y="803564"/>
            <a:ext cx="10737273" cy="5832762"/>
          </a:xfrm>
        </p:spPr>
        <p:txBody>
          <a:bodyPr>
            <a:normAutofit fontScale="92500"/>
          </a:bodyPr>
          <a:lstStyle/>
          <a:p>
            <a:pPr algn="just"/>
            <a:r>
              <a:rPr lang="en-GB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in PR refers to the responses and reactions from various publics to the communication efforts and messages disseminated by an organization.</a:t>
            </a:r>
          </a:p>
          <a:p>
            <a:pPr algn="just"/>
            <a:endParaRPr lang="en-GB" sz="2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 is a critical part of the PR process as it helps organizations gauge the effectiveness of their communication strategies, understand public perception, and make informed decisions for future actions.</a:t>
            </a:r>
            <a:endParaRPr lang="en-US" sz="2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communicator must get feedback from a receiver to know what messages are or are not getting through and how to structure future communications.</a:t>
            </a:r>
            <a:r>
              <a:rPr 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and reader feedback devices help to solicit insights so that you can determine if key messages were </a:t>
            </a:r>
            <a:r>
              <a:rPr lang="en-US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received, understood and acted on. </a:t>
            </a:r>
            <a:endParaRPr lang="en-US" sz="17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1718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EBA8-DAFC-4A76-A266-0EDF3C44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1709" y="1"/>
            <a:ext cx="9952903" cy="762000"/>
          </a:xfrm>
        </p:spPr>
        <p:txBody>
          <a:bodyPr>
            <a:norm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concept of feedback in 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0C871-6C5A-487E-AA97-EC0DA92F4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527" y="762001"/>
            <a:ext cx="10695709" cy="6095998"/>
          </a:xfrm>
        </p:spPr>
        <p:txBody>
          <a:bodyPr>
            <a:noAutofit/>
          </a:bodyPr>
          <a:lstStyle/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if a communication is understood clearly by publics, there is no certainty that the actions taken will be the desired one.</a:t>
            </a:r>
          </a:p>
          <a:p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assess whether objectives of a communication have been met based on such things as </a:t>
            </a:r>
            <a:r>
              <a:rPr lang="en-GB" sz="24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amount of sales, number of viewers or visitors at your website, or votes obtained. </a:t>
            </a:r>
          </a:p>
          <a:p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individuals take no action after receiving a communication, feedback must still be sought. </a:t>
            </a:r>
          </a:p>
          <a:p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Sometimes, although receivers have taken no visible action, they may have understood and even passed on the message to other individuals.</a:t>
            </a:r>
          </a:p>
        </p:txBody>
      </p:sp>
    </p:spTree>
    <p:extLst>
      <p:ext uri="{BB962C8B-B14F-4D97-AF65-F5344CB8AC3E}">
        <p14:creationId xmlns:p14="http://schemas.microsoft.com/office/powerpoint/2010/main" val="193965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4A86D-6305-466A-82DC-692F3F11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38546"/>
            <a:ext cx="8911687" cy="65116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Aspect of Feedback in PR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DE7-34BB-423E-BF99-AD300C57D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6291" y="803565"/>
            <a:ext cx="10008321" cy="5929745"/>
          </a:xfrm>
        </p:spPr>
        <p:txBody>
          <a:bodyPr>
            <a:normAutofit/>
          </a:bodyPr>
          <a:lstStyle/>
          <a:p>
            <a:pPr algn="just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and Evaluation</a:t>
            </a: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just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Tracking Responses</a:t>
            </a: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Collect and analyse responses from publics including customers, employees, media etc to your PR campaigns and messages.</a:t>
            </a:r>
          </a:p>
          <a:p>
            <a:pPr marL="0" indent="0" algn="just">
              <a:buNone/>
            </a:pPr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Types of Feedback</a:t>
            </a: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 Feedback</a:t>
            </a: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Open responses such as comments, emails, surveys, and direct messages.</a:t>
            </a:r>
          </a:p>
          <a:p>
            <a:pPr algn="just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Indirect Feedback</a:t>
            </a: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Hidden responses inferred from behaviours such as  website traffic and changes in sales.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777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BA89C-B5DC-464F-9CB8-EB5909859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983" y="249382"/>
            <a:ext cx="9883630" cy="858982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Sources of Feedback</a:t>
            </a:r>
            <a: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en-GB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6D329-A0F9-46C3-B8E3-3B073E759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982" y="886691"/>
            <a:ext cx="9883630" cy="5721927"/>
          </a:xfrm>
        </p:spPr>
        <p:txBody>
          <a:bodyPr>
            <a:normAutofit/>
          </a:bodyPr>
          <a:lstStyle/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 Outlets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Analysis of media coverage, including tone (positive or negative) and prominence of articles, news stories, and press mentions.</a:t>
            </a: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Media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Monitoring social media platforms for mentions, comments, shares, and overall engagement with PR content.</a:t>
            </a: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publics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Gathering feedback from employees and internal teams to understand their perspectives on communication initiatives.</a:t>
            </a: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External Publics and Customers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Collecting feedback from customers and other external publics through surveys, focus groups, and customer service interactions.</a:t>
            </a:r>
          </a:p>
        </p:txBody>
      </p:sp>
    </p:spTree>
    <p:extLst>
      <p:ext uri="{BB962C8B-B14F-4D97-AF65-F5344CB8AC3E}">
        <p14:creationId xmlns:p14="http://schemas.microsoft.com/office/powerpoint/2010/main" val="152944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4CB5-EB66-4E4A-9270-106DC4B96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1" y="221673"/>
            <a:ext cx="10285412" cy="72510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Importance of Feedback in PR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7CF43-F333-4BF1-ADD7-7EE4F2432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818" y="946777"/>
            <a:ext cx="10534794" cy="5689549"/>
          </a:xfrm>
        </p:spPr>
        <p:txBody>
          <a:bodyPr>
            <a:normAutofit lnSpcReduction="10000"/>
          </a:bodyPr>
          <a:lstStyle/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Assessment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Assessing whether PR campaigns are achieving their goals, such as improving brand awareness, managing reputation, or driving engagement.</a:t>
            </a: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Strategy Adjustment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Using feedback to refine and adjust PR strategies, messages, and tactics for better alignment with audience needs and preferences.</a:t>
            </a: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Crisis Management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Feedback helps to identify potential issues or crises early, so you can take proactive steps to address them.</a:t>
            </a:r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Stakeholder Engagement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Demonstrating responsiveness and willingness to listen to stakeholders, thereby building trust and strengthening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804207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1"/>
            <a:ext cx="8911687" cy="498764"/>
          </a:xfrm>
        </p:spPr>
        <p:txBody>
          <a:bodyPr>
            <a:normAutofit fontScale="90000"/>
          </a:bodyPr>
          <a:lstStyle/>
          <a:p>
            <a:r>
              <a:rPr lang="en-US" dirty="0"/>
              <a:t>STYLES/METHODS OF COMMUNICATION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4618" y="498765"/>
            <a:ext cx="10491558" cy="6359234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Two-way and one-way communication represent the two basic methods or “styles” of communication.</a:t>
            </a:r>
          </a:p>
          <a:p>
            <a:pPr algn="just"/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describe the direction and nature of the flow of information between communicators.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00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One-way communication 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linear and unidirectional flow of information where a message is sent from a sender to a receiver without expecting or requiring a response.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one-way communication models are two: press agentry or publicity, and public information. 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no explicit feedback component from communication receivers in one-way communication models. </a:t>
            </a:r>
          </a:p>
          <a:p>
            <a:pPr algn="just"/>
            <a:endParaRPr lang="en-U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use of one-way communication flatly rejects the possibility that the organization could be wrong in its stance, policies, and activities.</a:t>
            </a:r>
          </a:p>
        </p:txBody>
      </p:sp>
    </p:spTree>
    <p:extLst>
      <p:ext uri="{BB962C8B-B14F-4D97-AF65-F5344CB8AC3E}">
        <p14:creationId xmlns:p14="http://schemas.microsoft.com/office/powerpoint/2010/main" val="3583524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824EE-338C-40B0-A517-5F39120DC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52400"/>
            <a:ext cx="8911687" cy="623455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Examples of one-way communication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DEA63-7389-4495-B170-57D42CD49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4727" y="775855"/>
            <a:ext cx="10049885" cy="5929745"/>
          </a:xfrm>
        </p:spPr>
        <p:txBody>
          <a:bodyPr>
            <a:noAutofit/>
          </a:bodyPr>
          <a:lstStyle/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Broadcast Media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TV and radio broadcasts, where information is disseminated to a wide audience without interaction.</a:t>
            </a: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Advertisements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Print ads, billboards, and commercials that convey a message to consumers without expecting a direct response.</a:t>
            </a: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Announcements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Public announcements, newsletters, and memos that inform publics but do not invite a direct reply.</a:t>
            </a:r>
          </a:p>
          <a:p>
            <a:pPr algn="just"/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Speeches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Speeches where the speaker delivers a message to an audience without interactive feedback.</a:t>
            </a:r>
          </a:p>
        </p:txBody>
      </p:sp>
    </p:spTree>
    <p:extLst>
      <p:ext uri="{BB962C8B-B14F-4D97-AF65-F5344CB8AC3E}">
        <p14:creationId xmlns:p14="http://schemas.microsoft.com/office/powerpoint/2010/main" val="3732762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F0A10-3E76-4ECC-9365-7F56B959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96982"/>
            <a:ext cx="8911687" cy="498763"/>
          </a:xfrm>
        </p:spPr>
        <p:txBody>
          <a:bodyPr>
            <a:normAutofit fontScale="90000"/>
          </a:bodyPr>
          <a:lstStyle/>
          <a:p>
            <a:r>
              <a:rPr lang="en-GB" dirty="0"/>
              <a:t>Two-way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2886D-DC3D-455F-91F2-5D99A9A43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945" y="595745"/>
            <a:ext cx="10451667" cy="6165273"/>
          </a:xfrm>
        </p:spPr>
        <p:txBody>
          <a:bodyPr>
            <a:normAutofit/>
          </a:bodyPr>
          <a:lstStyle/>
          <a:p>
            <a:pPr algn="just"/>
            <a:r>
              <a:rPr lang="en-GB" sz="20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Two-way communication 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an interactive process where information flows between the sender and the receiver, allowing for feedback and dialogue.</a:t>
            </a:r>
          </a:p>
          <a:p>
            <a:pPr algn="just"/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two-way communication process is more collaborative, with both parties influencing the content and direction of the communication.</a:t>
            </a:r>
          </a:p>
          <a:p>
            <a:pPr algn="just"/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used for discussions, negotiations, relationship building, and situations requiring clarification or mutual understanding.</a:t>
            </a:r>
          </a:p>
          <a:p>
            <a:pPr algn="just"/>
            <a:endParaRPr lang="en-GB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Examples of two-way communication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algn="just"/>
            <a:r>
              <a:rPr lang="en-GB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Conversations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Face-to-face or virtual conversations where both parties can respond and interact.</a:t>
            </a:r>
          </a:p>
          <a:p>
            <a:pPr algn="just"/>
            <a:r>
              <a:rPr lang="en-GB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 Social Media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Platforms like Twitter, Facebook, or forums where users can comment, share, and discuss content.</a:t>
            </a:r>
          </a:p>
          <a:p>
            <a:pPr algn="just"/>
            <a:r>
              <a:rPr lang="en-GB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Meetings and Conferences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Situations where participants can ask questions, provide feedback, and engage in dialogue.</a:t>
            </a:r>
          </a:p>
          <a:p>
            <a:pPr algn="just"/>
            <a:r>
              <a:rPr lang="en-GB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Service</a:t>
            </a:r>
            <a:r>
              <a:rPr lang="en-GB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Customer service interactions through phone, chat, or email where customers and service representatives communicate back and forth.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3459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46A58-6F80-4C60-A19D-1F3B5DA30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127" y="263236"/>
            <a:ext cx="9897485" cy="526473"/>
          </a:xfrm>
        </p:spPr>
        <p:txBody>
          <a:bodyPr>
            <a:normAutofit/>
          </a:bodyPr>
          <a:lstStyle/>
          <a:p>
            <a:r>
              <a:rPr lang="en-US" sz="2800" dirty="0"/>
              <a:t>TWO-WAY AND ONE-WAY COMMUNICATION</a:t>
            </a:r>
            <a:endParaRPr lang="en-GB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F4C17-91E7-4546-AE8E-387332F073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091" y="789709"/>
            <a:ext cx="10465521" cy="595745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organizational communications, as in everyday life, the exchange of information has to be a two-way process. </a:t>
            </a:r>
          </a:p>
          <a:p>
            <a:pPr marL="0" indent="0" algn="just">
              <a:buNone/>
            </a:pPr>
            <a:endParaRPr lang="en-GB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best communications are two-way communications. No matter how large the organization, employee and customer views must be solicited, listened to, and acted on. </a:t>
            </a:r>
          </a:p>
          <a:p>
            <a:pPr algn="just"/>
            <a:endParaRPr lang="en-GB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Corporate communications departments must focus more on “engaging” their publics in two-way dialogue, to keep informed about their views and to keep them informed about the company’s motives and actions.</a:t>
            </a:r>
          </a:p>
          <a:p>
            <a:pPr algn="just"/>
            <a:endParaRPr lang="en-GB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Often, managers stage elaborate forums and feedback sessions, listen to employees’ views and suggestions, but yet do nothing. The key must be action.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2578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7437" y="206062"/>
            <a:ext cx="9637175" cy="669701"/>
          </a:xfrm>
        </p:spPr>
        <p:txBody>
          <a:bodyPr>
            <a:normAutofit/>
          </a:bodyPr>
          <a:lstStyle/>
          <a:p>
            <a:r>
              <a:rPr lang="en-US" dirty="0"/>
              <a:t>Feedback Mechanisms in 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1" y="875763"/>
            <a:ext cx="10921284" cy="5692461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GB" sz="8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Surveys and Polls</a:t>
            </a:r>
            <a:r>
              <a:rPr lang="en-GB" sz="8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Ob</a:t>
            </a:r>
            <a:r>
              <a:rPr lang="en-US" sz="80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tain feedback by conducting online or face-to-face surveys among customers, employees, or community publics using questionnaire. </a:t>
            </a:r>
          </a:p>
          <a:p>
            <a:pPr algn="just"/>
            <a:r>
              <a:rPr lang="en-GB" sz="8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surveys and polls can gather structured feedback on specific PR initiatives or overall brand perception.</a:t>
            </a:r>
            <a:endParaRPr lang="en-US" sz="8000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8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 the intensity of feelings E.g.  How do you feel about our quality of service? “very satisfied,” “satisfied,” “dissatisfied,” or “very dissatisfied” rather than “yes” or “no” answers.</a:t>
            </a:r>
            <a:endParaRPr lang="en-US" sz="8000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just"/>
            <a:endParaRPr lang="en-GB" sz="8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8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8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Groups</a:t>
            </a:r>
            <a:r>
              <a:rPr lang="en-GB" sz="8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Organize focus group discussions to gain in-depth insights from a representative sample of the target audience. </a:t>
            </a:r>
            <a:r>
              <a:rPr lang="en-US" sz="8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Knowledgeable opinion leaders, influential people and experts can be consulted. </a:t>
            </a:r>
          </a:p>
          <a:p>
            <a:pPr algn="just"/>
            <a:r>
              <a:rPr lang="en-US" sz="8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authors, student leaders, editors, labour union leaders, bakers, taxi drivers etc.  They can be selected based on their perceived knowledge of an issue and their ability to represent others. </a:t>
            </a:r>
            <a:endParaRPr lang="en-GB" sz="8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8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8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8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 Monitoring Services</a:t>
            </a:r>
            <a:r>
              <a:rPr lang="en-GB" sz="8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Employ media monitoring services to track coverage and analyse the impact of PR efforts across various media outlets.</a:t>
            </a:r>
            <a:endParaRPr lang="en-US" sz="80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8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22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55419"/>
            <a:ext cx="8911687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FEEDBACK MECHANISMS IN 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5915" y="512619"/>
            <a:ext cx="10882647" cy="618439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Social Media 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new lead voice in town is social media. It has given consumers a voice, a publishing platform, and a forum where their collective voices on products, services or communications can be heard, shared, and researched.</a:t>
            </a:r>
          </a:p>
          <a:p>
            <a:pPr algn="just"/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Engage in dialogue with consumers via social media, encourage consumers to talk about brand experiences, analyse what people are saying, and act on their comments. 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/>
              </a:solidFill>
              <a:latin typeface="Arial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Arial" pitchFamily="34" charset="0"/>
                <a:ea typeface="Verdana" panose="020B0604030504040204" pitchFamily="34" charset="0"/>
                <a:cs typeface="Arial" panose="020B0604020202020204" pitchFamily="34" charset="0"/>
              </a:rPr>
              <a:t>Interactive chats on social media can provide companies with direct feedback from customers and potential customers. </a:t>
            </a:r>
          </a:p>
          <a:p>
            <a:pPr algn="just"/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Organizational Web site: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can serve as a source of information and for provision of feedback.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Websites must have e-mail addresses and contact numbers through which people can reach your organization. </a:t>
            </a:r>
            <a:endParaRPr lang="en-US" sz="2000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2024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787" y="-134471"/>
            <a:ext cx="10023542" cy="701141"/>
          </a:xfrm>
        </p:spPr>
        <p:txBody>
          <a:bodyPr>
            <a:normAutofit/>
          </a:bodyPr>
          <a:lstStyle/>
          <a:p>
            <a:r>
              <a:rPr lang="en-US" dirty="0"/>
              <a:t>FEEDBACK MECHANISMS IN 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7431" y="387928"/>
            <a:ext cx="10805375" cy="6334844"/>
          </a:xfrm>
        </p:spPr>
        <p:txBody>
          <a:bodyPr>
            <a:normAutofit/>
          </a:bodyPr>
          <a:lstStyle/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Service Interactions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Collect feedback from customer service interactions to understand customer concerns and satisfaction levels.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Town hall meetings/ Forums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Town hall meetings are large gatherings of employees with top management, where no subject is off limits, and management-staff dialogue is the goal. 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be invaluable in exposing top management to employees and answering what’s on the minds of the staff. 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Such meetings must encourage unfettered two-way communication. 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managers tell town hall meeting participants they will “look into” something or “take action” on something, they need to do it. 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not, they impair their own credibility.</a:t>
            </a:r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459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115911"/>
            <a:ext cx="8911687" cy="476518"/>
          </a:xfrm>
        </p:spPr>
        <p:txBody>
          <a:bodyPr>
            <a:normAutofit fontScale="90000"/>
          </a:bodyPr>
          <a:lstStyle/>
          <a:p>
            <a:r>
              <a:rPr lang="en-US" dirty="0"/>
              <a:t>FEEDBACK MECHANISMS FOR 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10" y="592429"/>
            <a:ext cx="10882648" cy="6027312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Call-in telephone lines/Toll-Free Numbers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 can use the telephone to gather useful information.   You can do follow-up telephone calls or install toll-free lines for use by customers.</a:t>
            </a:r>
            <a:endParaRPr lang="en-US" sz="2800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just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You can establish a toll-free phone number before your campaign and list it in your PR messages.</a:t>
            </a:r>
          </a:p>
          <a:p>
            <a:pPr algn="just"/>
            <a:endParaRPr lang="en-US" sz="2800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Train your operators to ask questions about specifics in your PR campaign to see if callers understood your PR message. 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E.g. “Do you know the two new products we are offering?" </a:t>
            </a:r>
          </a:p>
          <a:p>
            <a:pPr algn="just"/>
            <a:r>
              <a:rPr lang="en-US" sz="2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This will provide you with feedback on your PR efforts.</a:t>
            </a:r>
          </a:p>
          <a:p>
            <a:pPr algn="just"/>
            <a:endParaRPr lang="en-US" sz="2800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6021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103032"/>
            <a:ext cx="8911687" cy="476518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FEEDBACK MECHANISMS IN PR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965" y="579550"/>
            <a:ext cx="10815326" cy="6278450"/>
          </a:xfrm>
        </p:spPr>
        <p:txBody>
          <a:bodyPr>
            <a:noAutofit/>
          </a:bodyPr>
          <a:lstStyle/>
          <a:p>
            <a:pPr algn="just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Comment cards/suggestion box: </a:t>
            </a:r>
            <a:r>
              <a:rPr lang="en-US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Organisations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can design comment cards to enable customers or other publics provide feedback on matters of interest.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Suggestion boxes should be mounted at vantage locations, and employees and other publics encouraged to anonymously deposit their thoughts on how to improve the company and its processes and products. </a:t>
            </a: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 must take action to deal with valid suggestions and then communicate what it did to respond.</a:t>
            </a:r>
          </a:p>
          <a:p>
            <a:pPr algn="just"/>
            <a:endParaRPr lang="en-US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Field Reports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organizations have district agents, sales representatives who live in and travel the territories they cover. 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If the agents are trained to </a:t>
            </a:r>
            <a:r>
              <a:rPr lang="en-US" sz="240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listen and observe, </a:t>
            </a:r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are given means of reporting their observations, they can serve as the “eyes and ears” of an organization.  </a:t>
            </a:r>
          </a:p>
          <a:p>
            <a:pPr algn="just"/>
            <a:r>
              <a:rPr lang="en-US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Their “intelligence” reports can be a useful source of information to a PRO. </a:t>
            </a:r>
          </a:p>
          <a:p>
            <a:pPr algn="just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1548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110836"/>
            <a:ext cx="8911687" cy="526473"/>
          </a:xfrm>
        </p:spPr>
        <p:txBody>
          <a:bodyPr>
            <a:normAutofit fontScale="90000"/>
          </a:bodyPr>
          <a:lstStyle/>
          <a:p>
            <a:r>
              <a:rPr lang="en-US" dirty="0"/>
              <a:t>FEEDBACK MECHANISMS IN 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1491" y="637309"/>
            <a:ext cx="10528284" cy="6109855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Analyses: 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Assemble and analyze data (messages and images) from a variety of internal and external sources, such as local newspaper and TV reporting, as well as organization’s publications and websites. 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E.g. memos, flyers, brochures, newsletters, handbooks, other publications and websites can provide data on how often key messages have been communicated.</a:t>
            </a:r>
          </a:p>
          <a:p>
            <a:pPr algn="just"/>
            <a:endParaRPr lang="en-US" sz="3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3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Mail Analysis: </a:t>
            </a:r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questions and other inquiries arriving via e-mail or traditional mail (letters) can serve as good information sources and it is another economical way of collecting information. 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can be tracked and studied to spot current or emerging concerns and to assess how well other PR tactics are working.</a:t>
            </a:r>
          </a:p>
          <a:p>
            <a:pPr algn="just"/>
            <a:r>
              <a:rPr lang="en-US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Periodic analysis of incoming mails can reveal areas of criticisms or ill-will or problem relationships.  They could point to a clear direction of a client’s disposition towards an organization.</a:t>
            </a:r>
          </a:p>
          <a:p>
            <a:pPr algn="just"/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5282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4BC18-7C1E-4917-BD2D-0EF591D14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38546"/>
            <a:ext cx="8911687" cy="595746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Implementing Feedback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E8F3F-A7FC-4651-B9B2-7FF3855A6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6182" y="734292"/>
            <a:ext cx="10188430" cy="5985163"/>
          </a:xfrm>
        </p:spPr>
        <p:txBody>
          <a:bodyPr>
            <a:normAutofit/>
          </a:bodyPr>
          <a:lstStyle/>
          <a:p>
            <a:pPr algn="just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Reporting</a:t>
            </a: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Summarize feedback findings in reports that highlight key insights, trends, and areas for improvement.</a:t>
            </a:r>
          </a:p>
          <a:p>
            <a:pPr algn="just"/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 Plans</a:t>
            </a: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Develop action plans based on feedback to address the issues.</a:t>
            </a:r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GB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Communication</a:t>
            </a:r>
            <a:r>
              <a:rPr lang="en-GB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Keep stakeholders informed about how their feedback is being used to make improvements and demonstrating commitment to continuous improvement.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5997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9C739-ABEA-41FF-8840-924E16438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"/>
            <a:ext cx="8911687" cy="65116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Example in Practice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C3E2F-3CC6-42F2-B868-80208CEC0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873" y="651165"/>
            <a:ext cx="10183091" cy="620683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instance, if a company launches a new product and uses a PR campaign to promote it, feedback might include:</a:t>
            </a: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 Reviews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Do analysis on articles published by journalists about the product.</a:t>
            </a: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 Media Engagement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Monitor how the product is discussed on platforms like Twitter, Facebook, and Instagram.</a:t>
            </a: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Feedback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Collect responses from customers through online surveys or feedback forms.</a:t>
            </a:r>
          </a:p>
          <a:p>
            <a:pPr algn="just"/>
            <a:endParaRPr lang="en-GB" sz="2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Sales Data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Examine sales trends to infer customer response to the product launch.</a:t>
            </a:r>
          </a:p>
          <a:p>
            <a:pPr algn="just"/>
            <a:endParaRPr lang="en-GB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systematically collecting and </a:t>
            </a:r>
            <a:r>
              <a:rPr lang="en-GB" sz="24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analyzing</a:t>
            </a:r>
            <a:r>
              <a:rPr lang="en-GB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this feedback, the company can understand the campaign's effectiveness, identify areas for improvement, and make data-driven decisions for future PR efforts.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2770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6466</TotalTime>
  <Words>1966</Words>
  <Application>Microsoft Office PowerPoint</Application>
  <PresentationFormat>Widescreen</PresentationFormat>
  <Paragraphs>155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Century Gothic</vt:lpstr>
      <vt:lpstr>Verdana</vt:lpstr>
      <vt:lpstr>Wingdings 3</vt:lpstr>
      <vt:lpstr>Wisp</vt:lpstr>
      <vt:lpstr>FEEDBACK IN PUBLIC RELATIONS</vt:lpstr>
      <vt:lpstr>The concept of feedback in PR</vt:lpstr>
      <vt:lpstr>The concept of feedback in PR</vt:lpstr>
      <vt:lpstr>Key Aspect of Feedback in PR</vt:lpstr>
      <vt:lpstr>Sources of Feedback: </vt:lpstr>
      <vt:lpstr>Importance of Feedback in PR </vt:lpstr>
      <vt:lpstr>STYLES/METHODS OF COMMUNICATION </vt:lpstr>
      <vt:lpstr>Examples of one-way communication </vt:lpstr>
      <vt:lpstr>Two-way communication</vt:lpstr>
      <vt:lpstr>TWO-WAY AND ONE-WAY COMMUNICATION</vt:lpstr>
      <vt:lpstr>Feedback Mechanisms in PR</vt:lpstr>
      <vt:lpstr>FEEDBACK MECHANISMS IN PR</vt:lpstr>
      <vt:lpstr>FEEDBACK MECHANISMS IN PR</vt:lpstr>
      <vt:lpstr>FEEDBACK MECHANISMS FOR PR</vt:lpstr>
      <vt:lpstr>FEEDBACK MECHANISMS IN PR </vt:lpstr>
      <vt:lpstr>FEEDBACK MECHANISMS IN PR</vt:lpstr>
      <vt:lpstr>Implementing Feedback </vt:lpstr>
      <vt:lpstr>Example in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Afua Adzadzi</dc:creator>
  <cp:lastModifiedBy>PC1</cp:lastModifiedBy>
  <cp:revision>377</cp:revision>
  <dcterms:created xsi:type="dcterms:W3CDTF">2016-01-16T20:53:00Z</dcterms:created>
  <dcterms:modified xsi:type="dcterms:W3CDTF">2026-07-02T11:52:27Z</dcterms:modified>
</cp:coreProperties>
</file>