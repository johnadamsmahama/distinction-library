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80" r:id="rId22"/>
    <p:sldId id="277"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3544-50DB-4E98-BDA8-953769C163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BF687D8-D760-463E-ACEF-1128C5A16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26AE144-F0DA-45D8-B28A-C91B084D4535}"/>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5" name="Footer Placeholder 4">
            <a:extLst>
              <a:ext uri="{FF2B5EF4-FFF2-40B4-BE49-F238E27FC236}">
                <a16:creationId xmlns:a16="http://schemas.microsoft.com/office/drawing/2014/main" id="{7C405D5A-37BD-468A-B0BE-DD2787A2E0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D82BA95-B8C5-41EA-A4D2-5FCC7626F87E}"/>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3989655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A2CAA-8464-4835-8F0E-91542E2DF85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291009E-9196-41D8-988C-38346818F9E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64F249-416D-45EE-A0EE-EC1391A1AFA5}"/>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5" name="Footer Placeholder 4">
            <a:extLst>
              <a:ext uri="{FF2B5EF4-FFF2-40B4-BE49-F238E27FC236}">
                <a16:creationId xmlns:a16="http://schemas.microsoft.com/office/drawing/2014/main" id="{33D8F87F-6150-4A4B-A4CB-6FF257EEE8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B670C03-733E-4DEF-A827-441831A233E7}"/>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3689605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5AAD6-DA90-4FD2-ADB3-ED7528EAE8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E221EA9-88E8-4FA6-B592-FDDBBCD1C1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2C6A3D8-772E-435D-A6DD-979D2DC3DA47}"/>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5" name="Footer Placeholder 4">
            <a:extLst>
              <a:ext uri="{FF2B5EF4-FFF2-40B4-BE49-F238E27FC236}">
                <a16:creationId xmlns:a16="http://schemas.microsoft.com/office/drawing/2014/main" id="{BC64164F-A4A0-4C2A-BA90-F4879D45CF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E8B90B-FD23-43F1-AFD2-184E86117208}"/>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2939711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E6A71-E799-4929-9AF2-CCECF3F9297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96D3874-0C95-4B46-A182-9A1A11CA991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F91D137-735F-4CF7-8CE7-09CEEE5297E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F0AF55B-8239-41CB-B3C6-93E61A225F08}"/>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6" name="Footer Placeholder 5">
            <a:extLst>
              <a:ext uri="{FF2B5EF4-FFF2-40B4-BE49-F238E27FC236}">
                <a16:creationId xmlns:a16="http://schemas.microsoft.com/office/drawing/2014/main" id="{EE30616F-4F8D-47C4-BA10-22257BDC037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DCFE3E-3593-4726-B1C1-F687042B3159}"/>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1102240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60E70-289B-454F-ABEA-E7777D30CF9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5295A4A-FE32-4398-90F0-90280595EB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9A5C2AB-8C81-4315-B79A-6F2FEB63B3F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E56F44A-1690-4C62-B4B0-03E231050C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25B8E69-22B7-4663-BF22-2CDA6895780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36E555A-5049-4B1F-8F66-98D053B829E7}"/>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8" name="Footer Placeholder 7">
            <a:extLst>
              <a:ext uri="{FF2B5EF4-FFF2-40B4-BE49-F238E27FC236}">
                <a16:creationId xmlns:a16="http://schemas.microsoft.com/office/drawing/2014/main" id="{C361EAD0-1B90-438E-BE60-CE5896B0308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FF78DE5-166A-48FF-949F-17BD4F3D6DE6}"/>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1022467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252B4-5F6D-4655-92BB-8AD61C34F795}"/>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DC795B4-FCC4-4490-9DB5-C26ACED95CE0}"/>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4" name="Footer Placeholder 3">
            <a:extLst>
              <a:ext uri="{FF2B5EF4-FFF2-40B4-BE49-F238E27FC236}">
                <a16:creationId xmlns:a16="http://schemas.microsoft.com/office/drawing/2014/main" id="{391AFC4D-227B-4165-8A5A-6B9BD468FA3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F555141-45C0-4E58-8122-3B69A3D3A1B7}"/>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2513423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438887-5938-4D55-BFAC-E4C138FBE4DC}"/>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3" name="Footer Placeholder 2">
            <a:extLst>
              <a:ext uri="{FF2B5EF4-FFF2-40B4-BE49-F238E27FC236}">
                <a16:creationId xmlns:a16="http://schemas.microsoft.com/office/drawing/2014/main" id="{1E93EDB3-D614-4FAF-B59D-5CC35576613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5BADB5A-E501-45ED-B86F-5C2467734230}"/>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3374736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99A2E-EADA-405D-88D5-29266365A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7EF503F-158C-4602-A94B-35A7A41513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ACBB094-1A34-422D-95D9-2E25912846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7A5E45F-A453-4039-AE5D-CB20AA6FDF0A}"/>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6" name="Footer Placeholder 5">
            <a:extLst>
              <a:ext uri="{FF2B5EF4-FFF2-40B4-BE49-F238E27FC236}">
                <a16:creationId xmlns:a16="http://schemas.microsoft.com/office/drawing/2014/main" id="{967F2EB2-CAF0-48DE-B4E2-418E694224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B51C145-9077-4A5C-8575-BEC4E46C25A1}"/>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215460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9D49-D8F0-40F3-8EF8-1B29FF294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E6133E3-C0F2-4738-8179-559F5EDD5E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06A7D39-BA3D-4DE9-AA13-CF0F25864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F45510A-1133-4943-9BA4-5C24C270F30D}"/>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6" name="Footer Placeholder 5">
            <a:extLst>
              <a:ext uri="{FF2B5EF4-FFF2-40B4-BE49-F238E27FC236}">
                <a16:creationId xmlns:a16="http://schemas.microsoft.com/office/drawing/2014/main" id="{86830AD6-38D4-4519-94E6-1CC52F1191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8D314C0-7573-4B40-B00C-05188B4DB31B}"/>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67186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E6B49-247F-46D6-82D3-340EF04EE66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53F7E1B-7C96-4754-862F-39DC21D63CC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50D1AA-6E20-4E71-88FB-2945AE968BE8}"/>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5" name="Footer Placeholder 4">
            <a:extLst>
              <a:ext uri="{FF2B5EF4-FFF2-40B4-BE49-F238E27FC236}">
                <a16:creationId xmlns:a16="http://schemas.microsoft.com/office/drawing/2014/main" id="{8877D4F0-09FF-45CF-998F-2F854DBEBED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D9340B-DDF6-4E92-89DB-99B09B0B022D}"/>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1459357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C6B149-1D73-41F6-948A-A07D334C50C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A6D1117-D310-4684-8A09-27E038F4A37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775D48-0D3C-447F-8A2D-4B0AFB727DBF}"/>
              </a:ext>
            </a:extLst>
          </p:cNvPr>
          <p:cNvSpPr>
            <a:spLocks noGrp="1"/>
          </p:cNvSpPr>
          <p:nvPr>
            <p:ph type="dt" sz="half" idx="10"/>
          </p:nvPr>
        </p:nvSpPr>
        <p:spPr/>
        <p:txBody>
          <a:bodyPr/>
          <a:lstStyle/>
          <a:p>
            <a:fld id="{D32B53E7-86E4-4C21-B5F3-46065DBF7E2F}" type="datetimeFigureOut">
              <a:rPr lang="en-GB" smtClean="0"/>
              <a:t>07/07/2026</a:t>
            </a:fld>
            <a:endParaRPr lang="en-GB"/>
          </a:p>
        </p:txBody>
      </p:sp>
      <p:sp>
        <p:nvSpPr>
          <p:cNvPr id="5" name="Footer Placeholder 4">
            <a:extLst>
              <a:ext uri="{FF2B5EF4-FFF2-40B4-BE49-F238E27FC236}">
                <a16:creationId xmlns:a16="http://schemas.microsoft.com/office/drawing/2014/main" id="{5E4FB7D7-12B6-4BB2-ADF5-A854C9E75D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4BDFB8-6BB6-43D1-B46C-C55A1D4837D8}"/>
              </a:ext>
            </a:extLst>
          </p:cNvPr>
          <p:cNvSpPr>
            <a:spLocks noGrp="1"/>
          </p:cNvSpPr>
          <p:nvPr>
            <p:ph type="sldNum" sz="quarter" idx="12"/>
          </p:nvPr>
        </p:nvSpPr>
        <p:spPr/>
        <p:txBody>
          <a:bodyPr/>
          <a:lstStyle/>
          <a:p>
            <a:fld id="{19E88CFF-A3C0-4297-BEFE-656D5D9890C7}" type="slidenum">
              <a:rPr lang="en-GB" smtClean="0"/>
              <a:t>‹#›</a:t>
            </a:fld>
            <a:endParaRPr lang="en-GB"/>
          </a:p>
        </p:txBody>
      </p:sp>
    </p:spTree>
    <p:extLst>
      <p:ext uri="{BB962C8B-B14F-4D97-AF65-F5344CB8AC3E}">
        <p14:creationId xmlns:p14="http://schemas.microsoft.com/office/powerpoint/2010/main" val="100652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06C09C-2EF5-4AA1-B5F6-86318A833E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01C1C2A-8643-4A1B-98DE-295C8088E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58307FF-2BC2-454A-B3E9-8D3E9A7F1E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2B53E7-86E4-4C21-B5F3-46065DBF7E2F}" type="datetimeFigureOut">
              <a:rPr lang="en-GB" smtClean="0"/>
              <a:t>07/07/2026</a:t>
            </a:fld>
            <a:endParaRPr lang="en-GB"/>
          </a:p>
        </p:txBody>
      </p:sp>
      <p:sp>
        <p:nvSpPr>
          <p:cNvPr id="5" name="Footer Placeholder 4">
            <a:extLst>
              <a:ext uri="{FF2B5EF4-FFF2-40B4-BE49-F238E27FC236}">
                <a16:creationId xmlns:a16="http://schemas.microsoft.com/office/drawing/2014/main" id="{84CF7456-D5EC-47DA-BFC5-F2E27849D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9F0EF84-F33A-4E8A-9278-07C9345818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E88CFF-A3C0-4297-BEFE-656D5D9890C7}" type="slidenum">
              <a:rPr lang="en-GB" smtClean="0"/>
              <a:t>‹#›</a:t>
            </a:fld>
            <a:endParaRPr lang="en-GB"/>
          </a:p>
        </p:txBody>
      </p:sp>
    </p:spTree>
    <p:extLst>
      <p:ext uri="{BB962C8B-B14F-4D97-AF65-F5344CB8AC3E}">
        <p14:creationId xmlns:p14="http://schemas.microsoft.com/office/powerpoint/2010/main" val="890348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E1874-12ED-44F8-9AC3-0E51CDAC55C4}"/>
              </a:ext>
            </a:extLst>
          </p:cNvPr>
          <p:cNvSpPr>
            <a:spLocks noGrp="1"/>
          </p:cNvSpPr>
          <p:nvPr>
            <p:ph type="ctrTitle"/>
          </p:nvPr>
        </p:nvSpPr>
        <p:spPr/>
        <p:txBody>
          <a:bodyPr/>
          <a:lstStyle/>
          <a:p>
            <a:r>
              <a:rPr lang="en-GB" dirty="0"/>
              <a:t>Marketing: Determining the type of advertising to use</a:t>
            </a:r>
          </a:p>
        </p:txBody>
      </p:sp>
      <p:sp>
        <p:nvSpPr>
          <p:cNvPr id="3" name="Subtitle 2">
            <a:extLst>
              <a:ext uri="{FF2B5EF4-FFF2-40B4-BE49-F238E27FC236}">
                <a16:creationId xmlns:a16="http://schemas.microsoft.com/office/drawing/2014/main" id="{91CA721B-7C3E-4609-9264-A7DD757DA1D9}"/>
              </a:ext>
            </a:extLst>
          </p:cNvPr>
          <p:cNvSpPr>
            <a:spLocks noGrp="1"/>
          </p:cNvSpPr>
          <p:nvPr>
            <p:ph type="subTitle" idx="1"/>
          </p:nvPr>
        </p:nvSpPr>
        <p:spPr/>
        <p:txBody>
          <a:bodyPr/>
          <a:lstStyle/>
          <a:p>
            <a:r>
              <a:rPr lang="en-GB" dirty="0"/>
              <a:t>Week 5</a:t>
            </a:r>
          </a:p>
        </p:txBody>
      </p:sp>
    </p:spTree>
    <p:extLst>
      <p:ext uri="{BB962C8B-B14F-4D97-AF65-F5344CB8AC3E}">
        <p14:creationId xmlns:p14="http://schemas.microsoft.com/office/powerpoint/2010/main" val="4075358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DFF4B-EBE2-475F-B8BE-B6B8377AB454}"/>
              </a:ext>
            </a:extLst>
          </p:cNvPr>
          <p:cNvSpPr>
            <a:spLocks noGrp="1"/>
          </p:cNvSpPr>
          <p:nvPr>
            <p:ph type="title"/>
          </p:nvPr>
        </p:nvSpPr>
        <p:spPr>
          <a:xfrm>
            <a:off x="838200" y="0"/>
            <a:ext cx="10515600" cy="556591"/>
          </a:xfrm>
        </p:spPr>
        <p:txBody>
          <a:bodyPr>
            <a:normAutofit fontScale="90000"/>
          </a:bodyPr>
          <a:lstStyle/>
          <a:p>
            <a:r>
              <a:rPr lang="en-GB" dirty="0"/>
              <a:t>What Is Marketing?</a:t>
            </a:r>
          </a:p>
        </p:txBody>
      </p:sp>
      <p:sp>
        <p:nvSpPr>
          <p:cNvPr id="3" name="Content Placeholder 2">
            <a:extLst>
              <a:ext uri="{FF2B5EF4-FFF2-40B4-BE49-F238E27FC236}">
                <a16:creationId xmlns:a16="http://schemas.microsoft.com/office/drawing/2014/main" id="{392F2E16-2515-40B5-BE7C-6D46082BDE1E}"/>
              </a:ext>
            </a:extLst>
          </p:cNvPr>
          <p:cNvSpPr>
            <a:spLocks noGrp="1"/>
          </p:cNvSpPr>
          <p:nvPr>
            <p:ph idx="1"/>
          </p:nvPr>
        </p:nvSpPr>
        <p:spPr>
          <a:xfrm>
            <a:off x="720436" y="556592"/>
            <a:ext cx="10806546" cy="6121300"/>
          </a:xfrm>
        </p:spPr>
        <p:txBody>
          <a:bodyPr>
            <a:normAutofit lnSpcReduction="10000"/>
          </a:bodyPr>
          <a:lstStyle/>
          <a:p>
            <a:pPr algn="just"/>
            <a:r>
              <a:rPr lang="en-GB" dirty="0"/>
              <a:t>Advertising is a specialty area within the broad domain of marketing.</a:t>
            </a:r>
          </a:p>
          <a:p>
            <a:pPr algn="just"/>
            <a:endParaRPr lang="en-GB" dirty="0"/>
          </a:p>
          <a:p>
            <a:pPr algn="just"/>
            <a:r>
              <a:rPr lang="en-GB" dirty="0"/>
              <a:t>Because we need to understand marketing as it relates to </a:t>
            </a:r>
            <a:r>
              <a:rPr lang="en-GB" b="1" i="1" dirty="0"/>
              <a:t>advertising</a:t>
            </a:r>
            <a:r>
              <a:rPr lang="en-GB" dirty="0"/>
              <a:t>, we define the term as follows: </a:t>
            </a:r>
          </a:p>
          <a:p>
            <a:pPr algn="just"/>
            <a:endParaRPr lang="en-GB" i="1" dirty="0"/>
          </a:p>
          <a:p>
            <a:pPr algn="just"/>
            <a:r>
              <a:rPr lang="en-GB" i="1" dirty="0"/>
              <a:t>Marketing is the process of planning and executing the conception, pricing, distribution, and promotion of ideas, goods, and services to create exchanges that satisfy the perceived needs, wants, and objectives of individuals and organizations (</a:t>
            </a:r>
            <a:r>
              <a:rPr lang="en-US" i="1" dirty="0" err="1"/>
              <a:t>Arens</a:t>
            </a:r>
            <a:r>
              <a:rPr lang="en-US" i="1" dirty="0"/>
              <a:t> &amp; </a:t>
            </a:r>
            <a:r>
              <a:rPr lang="en-US" i="1" dirty="0" err="1"/>
              <a:t>Weigold</a:t>
            </a:r>
            <a:r>
              <a:rPr lang="en-US" i="1" dirty="0"/>
              <a:t>, 2021:15). </a:t>
            </a:r>
          </a:p>
          <a:p>
            <a:pPr algn="just"/>
            <a:endParaRPr lang="en-US" dirty="0"/>
          </a:p>
          <a:p>
            <a:pPr algn="just"/>
            <a:r>
              <a:rPr lang="en-US" dirty="0"/>
              <a:t>Which part of the definition can you find advertising?</a:t>
            </a:r>
          </a:p>
          <a:p>
            <a:pPr algn="just"/>
            <a:endParaRPr lang="en-US" i="1" dirty="0"/>
          </a:p>
          <a:p>
            <a:pPr algn="just"/>
            <a:r>
              <a:rPr lang="en-GB" dirty="0"/>
              <a:t>Marketing is a process — </a:t>
            </a:r>
            <a:r>
              <a:rPr lang="en-GB" i="1" dirty="0"/>
              <a:t>a sequence of actions or methods—aimed at satisfying customer needs profitably. </a:t>
            </a:r>
          </a:p>
          <a:p>
            <a:pPr algn="just"/>
            <a:endParaRPr lang="en-GB" i="1" dirty="0"/>
          </a:p>
        </p:txBody>
      </p:sp>
    </p:spTree>
    <p:extLst>
      <p:ext uri="{BB962C8B-B14F-4D97-AF65-F5344CB8AC3E}">
        <p14:creationId xmlns:p14="http://schemas.microsoft.com/office/powerpoint/2010/main" val="134355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3092-E447-4932-9CB4-24ED7BD87524}"/>
              </a:ext>
            </a:extLst>
          </p:cNvPr>
          <p:cNvSpPr>
            <a:spLocks noGrp="1"/>
          </p:cNvSpPr>
          <p:nvPr>
            <p:ph type="title"/>
          </p:nvPr>
        </p:nvSpPr>
        <p:spPr>
          <a:xfrm>
            <a:off x="838200" y="221673"/>
            <a:ext cx="10515600" cy="803563"/>
          </a:xfrm>
        </p:spPr>
        <p:txBody>
          <a:bodyPr>
            <a:normAutofit/>
          </a:bodyPr>
          <a:lstStyle/>
          <a:p>
            <a:r>
              <a:rPr lang="en-GB" dirty="0"/>
              <a:t>What is Marketing?</a:t>
            </a:r>
          </a:p>
        </p:txBody>
      </p:sp>
      <p:sp>
        <p:nvSpPr>
          <p:cNvPr id="3" name="Content Placeholder 2">
            <a:extLst>
              <a:ext uri="{FF2B5EF4-FFF2-40B4-BE49-F238E27FC236}">
                <a16:creationId xmlns:a16="http://schemas.microsoft.com/office/drawing/2014/main" id="{1AB5958E-B453-4C5C-B9AF-4C49470F4493}"/>
              </a:ext>
            </a:extLst>
          </p:cNvPr>
          <p:cNvSpPr>
            <a:spLocks noGrp="1"/>
          </p:cNvSpPr>
          <p:nvPr>
            <p:ph idx="1"/>
          </p:nvPr>
        </p:nvSpPr>
        <p:spPr>
          <a:xfrm>
            <a:off x="838200" y="1025236"/>
            <a:ext cx="10515600" cy="5611091"/>
          </a:xfrm>
        </p:spPr>
        <p:txBody>
          <a:bodyPr>
            <a:normAutofit/>
          </a:bodyPr>
          <a:lstStyle/>
          <a:p>
            <a:pPr algn="just"/>
            <a:r>
              <a:rPr lang="en-GB" dirty="0"/>
              <a:t>The marketing process includes </a:t>
            </a:r>
            <a:r>
              <a:rPr lang="en-GB" i="1" dirty="0"/>
              <a:t>developing products, pricing them strategically, making them available to customers through a distribution network, and promoting them through sales and advertising activities</a:t>
            </a:r>
            <a:r>
              <a:rPr lang="en-GB" dirty="0"/>
              <a:t>. </a:t>
            </a:r>
          </a:p>
          <a:p>
            <a:pPr algn="just"/>
            <a:endParaRPr lang="en-GB" dirty="0"/>
          </a:p>
          <a:p>
            <a:pPr algn="just"/>
            <a:r>
              <a:rPr lang="en-GB" dirty="0"/>
              <a:t>The ultimate goal of the marketing process is to earn a profit for the firm by achieving the exchange of products or services with customers who need or want them. </a:t>
            </a:r>
          </a:p>
          <a:p>
            <a:pPr algn="just"/>
            <a:endParaRPr lang="en-GB" dirty="0"/>
          </a:p>
          <a:p>
            <a:pPr algn="just"/>
            <a:r>
              <a:rPr lang="en-GB" dirty="0"/>
              <a:t>The role of advertising is to </a:t>
            </a:r>
            <a:r>
              <a:rPr lang="en-GB" i="1" dirty="0"/>
              <a:t>inform, persuade, and remind groups of customers, or markets, about the need-satisfying value of the company’s goods and services. </a:t>
            </a:r>
          </a:p>
          <a:p>
            <a:pPr algn="just"/>
            <a:endParaRPr lang="en-GB" dirty="0"/>
          </a:p>
          <a:p>
            <a:pPr marL="0" indent="0" algn="just">
              <a:buNone/>
            </a:pPr>
            <a:endParaRPr lang="en-GB" dirty="0"/>
          </a:p>
        </p:txBody>
      </p:sp>
    </p:spTree>
    <p:extLst>
      <p:ext uri="{BB962C8B-B14F-4D97-AF65-F5344CB8AC3E}">
        <p14:creationId xmlns:p14="http://schemas.microsoft.com/office/powerpoint/2010/main" val="1066327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D319-343F-43EE-996B-A9FB75965E32}"/>
              </a:ext>
            </a:extLst>
          </p:cNvPr>
          <p:cNvSpPr>
            <a:spLocks noGrp="1"/>
          </p:cNvSpPr>
          <p:nvPr>
            <p:ph type="title"/>
          </p:nvPr>
        </p:nvSpPr>
        <p:spPr>
          <a:xfrm>
            <a:off x="838200" y="0"/>
            <a:ext cx="10515600" cy="914400"/>
          </a:xfrm>
        </p:spPr>
        <p:txBody>
          <a:bodyPr/>
          <a:lstStyle/>
          <a:p>
            <a:r>
              <a:rPr lang="en-GB" dirty="0"/>
              <a:t>Advertising and the Marketing Process</a:t>
            </a:r>
          </a:p>
        </p:txBody>
      </p:sp>
      <p:sp>
        <p:nvSpPr>
          <p:cNvPr id="3" name="Content Placeholder 2">
            <a:extLst>
              <a:ext uri="{FF2B5EF4-FFF2-40B4-BE49-F238E27FC236}">
                <a16:creationId xmlns:a16="http://schemas.microsoft.com/office/drawing/2014/main" id="{84C1B51F-A6EF-441A-8F69-18281588B5A3}"/>
              </a:ext>
            </a:extLst>
          </p:cNvPr>
          <p:cNvSpPr>
            <a:spLocks noGrp="1"/>
          </p:cNvSpPr>
          <p:nvPr>
            <p:ph idx="1"/>
          </p:nvPr>
        </p:nvSpPr>
        <p:spPr>
          <a:xfrm>
            <a:off x="838200" y="914400"/>
            <a:ext cx="10515600" cy="5680364"/>
          </a:xfrm>
        </p:spPr>
        <p:txBody>
          <a:bodyPr>
            <a:normAutofit/>
          </a:bodyPr>
          <a:lstStyle/>
          <a:p>
            <a:pPr algn="just"/>
            <a:r>
              <a:rPr lang="en-GB" sz="3200" dirty="0"/>
              <a:t>Advertising helps the organization achieve its marketing goals. </a:t>
            </a:r>
          </a:p>
          <a:p>
            <a:pPr algn="just"/>
            <a:endParaRPr lang="en-GB" sz="3200" dirty="0"/>
          </a:p>
          <a:p>
            <a:pPr algn="just"/>
            <a:r>
              <a:rPr lang="en-GB" sz="3200" dirty="0"/>
              <a:t>Companies use many different types of advertising, depending on their particular </a:t>
            </a:r>
            <a:r>
              <a:rPr lang="en-GB" sz="3200" i="1" dirty="0"/>
              <a:t>marketing strategy. </a:t>
            </a:r>
          </a:p>
          <a:p>
            <a:pPr algn="just"/>
            <a:endParaRPr lang="en-GB" sz="3200" dirty="0"/>
          </a:p>
          <a:p>
            <a:pPr algn="just"/>
            <a:endParaRPr lang="en-GB" sz="3200" dirty="0"/>
          </a:p>
          <a:p>
            <a:pPr algn="just"/>
            <a:r>
              <a:rPr lang="en-GB" sz="3200" dirty="0"/>
              <a:t>The marketing strategy will determine </a:t>
            </a:r>
            <a:r>
              <a:rPr lang="en-GB" sz="3200" i="1" dirty="0"/>
              <a:t>who the targets of advertising should be, where ads should appear, what media should be used, and what advertising should accomplish.</a:t>
            </a:r>
          </a:p>
        </p:txBody>
      </p:sp>
    </p:spTree>
    <p:extLst>
      <p:ext uri="{BB962C8B-B14F-4D97-AF65-F5344CB8AC3E}">
        <p14:creationId xmlns:p14="http://schemas.microsoft.com/office/powerpoint/2010/main" val="4208646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B3753-58F1-4C35-BBAB-A5DACD12F8D9}"/>
              </a:ext>
            </a:extLst>
          </p:cNvPr>
          <p:cNvSpPr>
            <a:spLocks noGrp="1"/>
          </p:cNvSpPr>
          <p:nvPr>
            <p:ph type="title"/>
          </p:nvPr>
        </p:nvSpPr>
        <p:spPr>
          <a:xfrm>
            <a:off x="838200" y="166255"/>
            <a:ext cx="10515600" cy="637309"/>
          </a:xfrm>
        </p:spPr>
        <p:txBody>
          <a:bodyPr>
            <a:normAutofit fontScale="90000"/>
          </a:bodyPr>
          <a:lstStyle/>
          <a:p>
            <a:r>
              <a:rPr lang="en-GB" dirty="0"/>
              <a:t>Identifying Target Markets and Target Audiences</a:t>
            </a:r>
          </a:p>
        </p:txBody>
      </p:sp>
      <p:sp>
        <p:nvSpPr>
          <p:cNvPr id="3" name="Content Placeholder 2">
            <a:extLst>
              <a:ext uri="{FF2B5EF4-FFF2-40B4-BE49-F238E27FC236}">
                <a16:creationId xmlns:a16="http://schemas.microsoft.com/office/drawing/2014/main" id="{405E26D0-A69F-4DBB-82C1-88E8AA163D43}"/>
              </a:ext>
            </a:extLst>
          </p:cNvPr>
          <p:cNvSpPr>
            <a:spLocks noGrp="1"/>
          </p:cNvSpPr>
          <p:nvPr>
            <p:ph idx="1"/>
          </p:nvPr>
        </p:nvSpPr>
        <p:spPr>
          <a:xfrm>
            <a:off x="838200" y="914399"/>
            <a:ext cx="10515600" cy="5777345"/>
          </a:xfrm>
        </p:spPr>
        <p:txBody>
          <a:bodyPr>
            <a:normAutofit/>
          </a:bodyPr>
          <a:lstStyle/>
          <a:p>
            <a:pPr algn="just"/>
            <a:r>
              <a:rPr lang="en-GB" dirty="0"/>
              <a:t>A firm’s marketing activities are always aimed at a particular segment of the population—its target market. </a:t>
            </a:r>
          </a:p>
          <a:p>
            <a:pPr algn="just"/>
            <a:endParaRPr lang="en-GB" dirty="0"/>
          </a:p>
          <a:p>
            <a:pPr algn="just"/>
            <a:r>
              <a:rPr lang="en-GB" dirty="0"/>
              <a:t>Likewise, advertising is aimed at a particular group called the target audience. </a:t>
            </a:r>
          </a:p>
          <a:p>
            <a:pPr algn="just"/>
            <a:endParaRPr lang="en-GB" dirty="0"/>
          </a:p>
          <a:p>
            <a:pPr algn="just"/>
            <a:r>
              <a:rPr lang="en-GB" dirty="0"/>
              <a:t>When we see an ad that doesn’t appeal to us, it may be because the ad is not aimed at any of the groups we belong to. </a:t>
            </a:r>
          </a:p>
          <a:p>
            <a:pPr algn="just"/>
            <a:endParaRPr lang="en-GB" dirty="0"/>
          </a:p>
          <a:p>
            <a:pPr algn="just"/>
            <a:r>
              <a:rPr lang="en-GB" dirty="0"/>
              <a:t>There are two main types of target markets, </a:t>
            </a:r>
            <a:r>
              <a:rPr lang="en-GB" b="1" i="1" dirty="0"/>
              <a:t>consumers and businesses.</a:t>
            </a:r>
          </a:p>
        </p:txBody>
      </p:sp>
    </p:spTree>
    <p:extLst>
      <p:ext uri="{BB962C8B-B14F-4D97-AF65-F5344CB8AC3E}">
        <p14:creationId xmlns:p14="http://schemas.microsoft.com/office/powerpoint/2010/main" val="864160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18DA2-0BBE-44F0-B7EB-A13069CCC2BD}"/>
              </a:ext>
            </a:extLst>
          </p:cNvPr>
          <p:cNvSpPr>
            <a:spLocks noGrp="1"/>
          </p:cNvSpPr>
          <p:nvPr>
            <p:ph type="title"/>
          </p:nvPr>
        </p:nvSpPr>
        <p:spPr>
          <a:xfrm>
            <a:off x="838200" y="138546"/>
            <a:ext cx="10515600" cy="542492"/>
          </a:xfrm>
        </p:spPr>
        <p:txBody>
          <a:bodyPr>
            <a:normAutofit fontScale="90000"/>
          </a:bodyPr>
          <a:lstStyle/>
          <a:p>
            <a:r>
              <a:rPr lang="en-GB" dirty="0"/>
              <a:t>1. Consumer Markets</a:t>
            </a:r>
          </a:p>
        </p:txBody>
      </p:sp>
      <p:sp>
        <p:nvSpPr>
          <p:cNvPr id="3" name="Content Placeholder 2">
            <a:extLst>
              <a:ext uri="{FF2B5EF4-FFF2-40B4-BE49-F238E27FC236}">
                <a16:creationId xmlns:a16="http://schemas.microsoft.com/office/drawing/2014/main" id="{0BA6E5EE-44DD-4826-842D-AEF89405BE94}"/>
              </a:ext>
            </a:extLst>
          </p:cNvPr>
          <p:cNvSpPr>
            <a:spLocks noGrp="1"/>
          </p:cNvSpPr>
          <p:nvPr>
            <p:ph idx="1"/>
          </p:nvPr>
        </p:nvSpPr>
        <p:spPr>
          <a:xfrm>
            <a:off x="838200" y="817418"/>
            <a:ext cx="10515600" cy="5777346"/>
          </a:xfrm>
        </p:spPr>
        <p:txBody>
          <a:bodyPr>
            <a:normAutofit/>
          </a:bodyPr>
          <a:lstStyle/>
          <a:p>
            <a:pPr algn="just"/>
            <a:r>
              <a:rPr lang="en-GB" dirty="0"/>
              <a:t>Most of the advertising we see in the mass media—TV, radio, newspapers, and magazines—falls under the broad category of </a:t>
            </a:r>
            <a:r>
              <a:rPr lang="en-GB" b="1" dirty="0"/>
              <a:t>consumer advertising</a:t>
            </a:r>
            <a:r>
              <a:rPr lang="en-GB" dirty="0"/>
              <a:t>. </a:t>
            </a:r>
          </a:p>
          <a:p>
            <a:pPr algn="just"/>
            <a:endParaRPr lang="en-GB" dirty="0"/>
          </a:p>
          <a:p>
            <a:pPr algn="just"/>
            <a:r>
              <a:rPr lang="en-GB" dirty="0"/>
              <a:t>Usually sponsored by the producer (or manufacturer) of the product or service, these ads are typically directed at </a:t>
            </a:r>
            <a:r>
              <a:rPr lang="en-GB" i="1" dirty="0"/>
              <a:t>consumers</a:t>
            </a:r>
            <a:r>
              <a:rPr lang="en-GB" dirty="0"/>
              <a:t>, people who buy the product for their own or someone else’s personal use.</a:t>
            </a:r>
          </a:p>
          <a:p>
            <a:pPr algn="just"/>
            <a:endParaRPr lang="en-GB" dirty="0"/>
          </a:p>
          <a:p>
            <a:pPr marL="0" indent="0" algn="just">
              <a:buNone/>
            </a:pPr>
            <a:endParaRPr lang="en-GB" dirty="0"/>
          </a:p>
          <a:p>
            <a:pPr algn="just"/>
            <a:r>
              <a:rPr lang="en-GB" dirty="0"/>
              <a:t>Consumer advertising also includes non-commercial</a:t>
            </a:r>
            <a:r>
              <a:rPr lang="en-GB" i="1" dirty="0"/>
              <a:t> public service announcements (PSAs)</a:t>
            </a:r>
            <a:r>
              <a:rPr lang="en-GB" dirty="0"/>
              <a:t> from organization such as the Ghana Red Cross Society or Ghana National Fire Service. </a:t>
            </a:r>
          </a:p>
        </p:txBody>
      </p:sp>
    </p:spTree>
    <p:extLst>
      <p:ext uri="{BB962C8B-B14F-4D97-AF65-F5344CB8AC3E}">
        <p14:creationId xmlns:p14="http://schemas.microsoft.com/office/powerpoint/2010/main" val="475554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9E01-6FBC-49F4-AC28-0E6CF9277088}"/>
              </a:ext>
            </a:extLst>
          </p:cNvPr>
          <p:cNvSpPr>
            <a:spLocks noGrp="1"/>
          </p:cNvSpPr>
          <p:nvPr>
            <p:ph type="title"/>
          </p:nvPr>
        </p:nvSpPr>
        <p:spPr>
          <a:xfrm>
            <a:off x="838200" y="1"/>
            <a:ext cx="10515600" cy="498763"/>
          </a:xfrm>
        </p:spPr>
        <p:txBody>
          <a:bodyPr>
            <a:normAutofit fontScale="90000"/>
          </a:bodyPr>
          <a:lstStyle/>
          <a:p>
            <a:r>
              <a:rPr lang="en-GB" dirty="0"/>
              <a:t>1. Consumer Markets</a:t>
            </a:r>
          </a:p>
        </p:txBody>
      </p:sp>
      <p:sp>
        <p:nvSpPr>
          <p:cNvPr id="3" name="Content Placeholder 2">
            <a:extLst>
              <a:ext uri="{FF2B5EF4-FFF2-40B4-BE49-F238E27FC236}">
                <a16:creationId xmlns:a16="http://schemas.microsoft.com/office/drawing/2014/main" id="{757688F2-CAE5-4087-89B5-5A777EEA923E}"/>
              </a:ext>
            </a:extLst>
          </p:cNvPr>
          <p:cNvSpPr>
            <a:spLocks noGrp="1"/>
          </p:cNvSpPr>
          <p:nvPr>
            <p:ph idx="1"/>
          </p:nvPr>
        </p:nvSpPr>
        <p:spPr>
          <a:xfrm>
            <a:off x="838200" y="498764"/>
            <a:ext cx="10515600" cy="6179127"/>
          </a:xfrm>
        </p:spPr>
        <p:txBody>
          <a:bodyPr>
            <a:normAutofit/>
          </a:bodyPr>
          <a:lstStyle/>
          <a:p>
            <a:pPr algn="just"/>
            <a:r>
              <a:rPr lang="en-GB" sz="3200" dirty="0"/>
              <a:t>To create messages that are persuasive, advertising professionals must understand </a:t>
            </a:r>
            <a:r>
              <a:rPr lang="en-GB" sz="3200" i="1" dirty="0"/>
              <a:t>how people act and think—and why they buy what they buy. </a:t>
            </a:r>
          </a:p>
          <a:p>
            <a:pPr algn="just"/>
            <a:endParaRPr lang="en-GB" sz="3200" dirty="0"/>
          </a:p>
          <a:p>
            <a:pPr algn="just"/>
            <a:r>
              <a:rPr lang="en-GB" sz="3200" dirty="0"/>
              <a:t>The field of specialty in marketing in which advertising professionals try to understand how people act and think—and why they buy what they buy, is known as </a:t>
            </a:r>
            <a:r>
              <a:rPr lang="en-GB" sz="3200" i="1" dirty="0"/>
              <a:t>consumer behaviour. </a:t>
            </a:r>
          </a:p>
          <a:p>
            <a:pPr algn="just"/>
            <a:endParaRPr lang="en-GB" sz="3200" dirty="0"/>
          </a:p>
          <a:p>
            <a:pPr algn="just"/>
            <a:r>
              <a:rPr lang="en-GB" sz="3200" dirty="0"/>
              <a:t>The better an advertiser understands the buying behaviour of people, the better it can bring its products into the collective awareness of prospective customers.</a:t>
            </a:r>
          </a:p>
        </p:txBody>
      </p:sp>
    </p:spTree>
    <p:extLst>
      <p:ext uri="{BB962C8B-B14F-4D97-AF65-F5344CB8AC3E}">
        <p14:creationId xmlns:p14="http://schemas.microsoft.com/office/powerpoint/2010/main" val="631617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E2EE1-E764-4364-8420-781718DEE8D1}"/>
              </a:ext>
            </a:extLst>
          </p:cNvPr>
          <p:cNvSpPr>
            <a:spLocks noGrp="1"/>
          </p:cNvSpPr>
          <p:nvPr>
            <p:ph type="title"/>
          </p:nvPr>
        </p:nvSpPr>
        <p:spPr>
          <a:xfrm>
            <a:off x="838200" y="138546"/>
            <a:ext cx="10515600" cy="595746"/>
          </a:xfrm>
        </p:spPr>
        <p:txBody>
          <a:bodyPr>
            <a:normAutofit fontScale="90000"/>
          </a:bodyPr>
          <a:lstStyle/>
          <a:p>
            <a:r>
              <a:rPr lang="en-GB" dirty="0"/>
              <a:t>2. Industrial/Business Markets</a:t>
            </a:r>
          </a:p>
        </p:txBody>
      </p:sp>
      <p:sp>
        <p:nvSpPr>
          <p:cNvPr id="3" name="Content Placeholder 2">
            <a:extLst>
              <a:ext uri="{FF2B5EF4-FFF2-40B4-BE49-F238E27FC236}">
                <a16:creationId xmlns:a16="http://schemas.microsoft.com/office/drawing/2014/main" id="{A4B8A61F-113D-4C14-9F5C-BCA91A9195E2}"/>
              </a:ext>
            </a:extLst>
          </p:cNvPr>
          <p:cNvSpPr>
            <a:spLocks noGrp="1"/>
          </p:cNvSpPr>
          <p:nvPr>
            <p:ph idx="1"/>
          </p:nvPr>
        </p:nvSpPr>
        <p:spPr>
          <a:xfrm>
            <a:off x="838200" y="734292"/>
            <a:ext cx="10515600" cy="5985163"/>
          </a:xfrm>
        </p:spPr>
        <p:txBody>
          <a:bodyPr>
            <a:normAutofit lnSpcReduction="10000"/>
          </a:bodyPr>
          <a:lstStyle/>
          <a:p>
            <a:pPr algn="just"/>
            <a:r>
              <a:rPr lang="en-GB" sz="3200" dirty="0"/>
              <a:t>Companies use business advertising to reach people who buy or specify goods and services for business use.</a:t>
            </a:r>
          </a:p>
          <a:p>
            <a:pPr algn="just"/>
            <a:endParaRPr lang="en-GB" sz="3200" dirty="0"/>
          </a:p>
          <a:p>
            <a:pPr algn="just"/>
            <a:r>
              <a:rPr lang="en-GB" sz="3200" dirty="0"/>
              <a:t>It tends to appear in specialized business publications or professional journals, in direct mail pieces sent to businesses, or in trade shows. </a:t>
            </a:r>
          </a:p>
          <a:p>
            <a:pPr algn="just"/>
            <a:endParaRPr lang="en-GB" sz="3200" dirty="0"/>
          </a:p>
          <a:p>
            <a:pPr algn="just"/>
            <a:r>
              <a:rPr lang="en-GB" sz="3200" dirty="0"/>
              <a:t>Business advertising is also called business-to-business, or B2B advertising.</a:t>
            </a:r>
          </a:p>
          <a:p>
            <a:pPr algn="just"/>
            <a:endParaRPr lang="en-GB" sz="3200" dirty="0"/>
          </a:p>
          <a:p>
            <a:pPr algn="just"/>
            <a:r>
              <a:rPr lang="en-GB" sz="3200" dirty="0"/>
              <a:t>Some business-to-business ads, by computer manufacturers or firms such as FedEx do appear on TV and in consumer magazines. </a:t>
            </a:r>
          </a:p>
        </p:txBody>
      </p:sp>
    </p:spTree>
    <p:extLst>
      <p:ext uri="{BB962C8B-B14F-4D97-AF65-F5344CB8AC3E}">
        <p14:creationId xmlns:p14="http://schemas.microsoft.com/office/powerpoint/2010/main" val="3378163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0383-9C57-4C2C-B880-84EA0A85C269}"/>
              </a:ext>
            </a:extLst>
          </p:cNvPr>
          <p:cNvSpPr>
            <a:spLocks noGrp="1"/>
          </p:cNvSpPr>
          <p:nvPr>
            <p:ph type="title"/>
          </p:nvPr>
        </p:nvSpPr>
        <p:spPr>
          <a:xfrm>
            <a:off x="838200" y="110837"/>
            <a:ext cx="10515600" cy="706582"/>
          </a:xfrm>
        </p:spPr>
        <p:txBody>
          <a:bodyPr>
            <a:normAutofit/>
          </a:bodyPr>
          <a:lstStyle/>
          <a:p>
            <a:r>
              <a:rPr lang="en-GB" dirty="0"/>
              <a:t>2. Industrial/Business Markets</a:t>
            </a:r>
          </a:p>
        </p:txBody>
      </p:sp>
      <p:sp>
        <p:nvSpPr>
          <p:cNvPr id="3" name="Content Placeholder 2">
            <a:extLst>
              <a:ext uri="{FF2B5EF4-FFF2-40B4-BE49-F238E27FC236}">
                <a16:creationId xmlns:a16="http://schemas.microsoft.com/office/drawing/2014/main" id="{2DE4CF76-2EBB-4F56-A904-CAB1B4241BBA}"/>
              </a:ext>
            </a:extLst>
          </p:cNvPr>
          <p:cNvSpPr>
            <a:spLocks noGrp="1"/>
          </p:cNvSpPr>
          <p:nvPr>
            <p:ph idx="1"/>
          </p:nvPr>
        </p:nvSpPr>
        <p:spPr>
          <a:xfrm>
            <a:off x="838200" y="817418"/>
            <a:ext cx="10515600" cy="5694217"/>
          </a:xfrm>
        </p:spPr>
        <p:txBody>
          <a:bodyPr>
            <a:normAutofit/>
          </a:bodyPr>
          <a:lstStyle/>
          <a:p>
            <a:pPr algn="just"/>
            <a:r>
              <a:rPr lang="en-GB" dirty="0"/>
              <a:t>In addition to general business advertising, there are three specialized types of business advertising: </a:t>
            </a:r>
            <a:r>
              <a:rPr lang="en-GB" i="1" dirty="0"/>
              <a:t>trade, professional, and agricultural</a:t>
            </a:r>
            <a:r>
              <a:rPr lang="en-GB" dirty="0"/>
              <a:t>.</a:t>
            </a:r>
          </a:p>
          <a:p>
            <a:pPr algn="just"/>
            <a:endParaRPr lang="en-GB" dirty="0"/>
          </a:p>
          <a:p>
            <a:pPr algn="just"/>
            <a:r>
              <a:rPr lang="en-GB" dirty="0"/>
              <a:t>Companies aim </a:t>
            </a:r>
            <a:r>
              <a:rPr lang="en-GB" i="1" dirty="0"/>
              <a:t>trade advertising </a:t>
            </a:r>
            <a:r>
              <a:rPr lang="en-GB" dirty="0"/>
              <a:t>at resellers (wholesalers, dealers, and retailers) to obtain greater distribution of their products. </a:t>
            </a:r>
          </a:p>
          <a:p>
            <a:pPr algn="just"/>
            <a:endParaRPr lang="en-GB" dirty="0"/>
          </a:p>
          <a:p>
            <a:pPr algn="just"/>
            <a:r>
              <a:rPr lang="en-GB" dirty="0"/>
              <a:t>For example, Sunkist places trade advertising in publications to develop more market outlets and to increase sales to existing outlets. </a:t>
            </a:r>
          </a:p>
          <a:p>
            <a:pPr algn="just"/>
            <a:endParaRPr lang="en-GB" dirty="0"/>
          </a:p>
          <a:p>
            <a:pPr algn="just"/>
            <a:r>
              <a:rPr lang="en-GB" dirty="0"/>
              <a:t>Advertising aimed at teachers, accountants, doctors, dentists, architects, engineers, lawyers, and the like is called </a:t>
            </a:r>
            <a:r>
              <a:rPr lang="en-GB" i="1" dirty="0"/>
              <a:t>professional advertising.</a:t>
            </a:r>
          </a:p>
        </p:txBody>
      </p:sp>
    </p:spTree>
    <p:extLst>
      <p:ext uri="{BB962C8B-B14F-4D97-AF65-F5344CB8AC3E}">
        <p14:creationId xmlns:p14="http://schemas.microsoft.com/office/powerpoint/2010/main" val="2720773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923D-704D-4999-ACF5-DC5A3F836E21}"/>
              </a:ext>
            </a:extLst>
          </p:cNvPr>
          <p:cNvSpPr>
            <a:spLocks noGrp="1"/>
          </p:cNvSpPr>
          <p:nvPr>
            <p:ph type="title"/>
          </p:nvPr>
        </p:nvSpPr>
        <p:spPr>
          <a:xfrm>
            <a:off x="838200" y="180109"/>
            <a:ext cx="10515600" cy="595747"/>
          </a:xfrm>
        </p:spPr>
        <p:txBody>
          <a:bodyPr>
            <a:normAutofit fontScale="90000"/>
          </a:bodyPr>
          <a:lstStyle/>
          <a:p>
            <a:r>
              <a:rPr lang="en-GB" dirty="0"/>
              <a:t>2. Industrial/Business Markets</a:t>
            </a:r>
          </a:p>
        </p:txBody>
      </p:sp>
      <p:sp>
        <p:nvSpPr>
          <p:cNvPr id="3" name="Content Placeholder 2">
            <a:extLst>
              <a:ext uri="{FF2B5EF4-FFF2-40B4-BE49-F238E27FC236}">
                <a16:creationId xmlns:a16="http://schemas.microsoft.com/office/drawing/2014/main" id="{FEF67B9A-A348-449F-8435-ADD70AB3D38B}"/>
              </a:ext>
            </a:extLst>
          </p:cNvPr>
          <p:cNvSpPr>
            <a:spLocks noGrp="1"/>
          </p:cNvSpPr>
          <p:nvPr>
            <p:ph idx="1"/>
          </p:nvPr>
        </p:nvSpPr>
        <p:spPr>
          <a:xfrm>
            <a:off x="838200" y="775856"/>
            <a:ext cx="10515600" cy="5902035"/>
          </a:xfrm>
        </p:spPr>
        <p:txBody>
          <a:bodyPr>
            <a:normAutofit fontScale="85000" lnSpcReduction="10000"/>
          </a:bodyPr>
          <a:lstStyle/>
          <a:p>
            <a:pPr algn="just"/>
            <a:r>
              <a:rPr lang="en-GB" dirty="0"/>
              <a:t>Professional advertising has three objectives: </a:t>
            </a:r>
            <a:r>
              <a:rPr lang="en-GB" i="1" dirty="0"/>
              <a:t>to convince professionals (people with specialized training who work under a code of ethics) to recommend or prescribe a specific product or service to their clients, to buy brands of equipment and supplies for use in their work, or to use the product personally. </a:t>
            </a:r>
          </a:p>
          <a:p>
            <a:pPr algn="just"/>
            <a:endParaRPr lang="en-GB" dirty="0"/>
          </a:p>
          <a:p>
            <a:pPr algn="just"/>
            <a:r>
              <a:rPr lang="en-GB" dirty="0"/>
              <a:t>Companies use </a:t>
            </a:r>
            <a:r>
              <a:rPr lang="en-GB" b="1" dirty="0"/>
              <a:t>agricultural</a:t>
            </a:r>
            <a:r>
              <a:rPr lang="en-GB" dirty="0"/>
              <a:t> (or </a:t>
            </a:r>
            <a:r>
              <a:rPr lang="en-GB" b="1" dirty="0"/>
              <a:t>farm ) advertising </a:t>
            </a:r>
            <a:r>
              <a:rPr lang="en-GB" dirty="0"/>
              <a:t>to promote products and services used in agriculture to farmers and others employed in agribusiness. </a:t>
            </a:r>
          </a:p>
          <a:p>
            <a:pPr algn="just"/>
            <a:endParaRPr lang="en-GB" dirty="0"/>
          </a:p>
          <a:p>
            <a:pPr algn="just"/>
            <a:r>
              <a:rPr lang="en-GB" dirty="0"/>
              <a:t>Agricultural advertising typically shows farmers how the advertised product will increase efficiency, reduce risks, and widen profit margins. </a:t>
            </a:r>
          </a:p>
          <a:p>
            <a:pPr algn="just"/>
            <a:endParaRPr lang="en-GB" dirty="0"/>
          </a:p>
          <a:p>
            <a:pPr algn="just"/>
            <a:r>
              <a:rPr lang="en-GB" dirty="0"/>
              <a:t>Business customers tend to be very knowledgeable and sophisticated, and may require extensive technical information before making the purchase decision. </a:t>
            </a:r>
          </a:p>
          <a:p>
            <a:pPr algn="just"/>
            <a:r>
              <a:rPr lang="en-GB" dirty="0"/>
              <a:t>So people who work in business-to-business advertising need more specialized product knowledge and experience than their consumer advertising colleagues.</a:t>
            </a:r>
          </a:p>
        </p:txBody>
      </p:sp>
    </p:spTree>
    <p:extLst>
      <p:ext uri="{BB962C8B-B14F-4D97-AF65-F5344CB8AC3E}">
        <p14:creationId xmlns:p14="http://schemas.microsoft.com/office/powerpoint/2010/main" val="2627082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3B1E-8DEF-4997-9F10-5D026FC13316}"/>
              </a:ext>
            </a:extLst>
          </p:cNvPr>
          <p:cNvSpPr>
            <a:spLocks noGrp="1"/>
          </p:cNvSpPr>
          <p:nvPr>
            <p:ph type="title"/>
          </p:nvPr>
        </p:nvSpPr>
        <p:spPr>
          <a:xfrm>
            <a:off x="838200" y="124691"/>
            <a:ext cx="10515600" cy="775855"/>
          </a:xfrm>
        </p:spPr>
        <p:txBody>
          <a:bodyPr>
            <a:normAutofit/>
          </a:bodyPr>
          <a:lstStyle/>
          <a:p>
            <a:r>
              <a:rPr lang="en-GB" dirty="0"/>
              <a:t>Implementing Marketing Strategy</a:t>
            </a:r>
          </a:p>
        </p:txBody>
      </p:sp>
      <p:sp>
        <p:nvSpPr>
          <p:cNvPr id="3" name="Content Placeholder 2">
            <a:extLst>
              <a:ext uri="{FF2B5EF4-FFF2-40B4-BE49-F238E27FC236}">
                <a16:creationId xmlns:a16="http://schemas.microsoft.com/office/drawing/2014/main" id="{FAFD8849-54B7-4ADF-A9CB-6B32F19ECFBD}"/>
              </a:ext>
            </a:extLst>
          </p:cNvPr>
          <p:cNvSpPr>
            <a:spLocks noGrp="1"/>
          </p:cNvSpPr>
          <p:nvPr>
            <p:ph idx="1"/>
          </p:nvPr>
        </p:nvSpPr>
        <p:spPr>
          <a:xfrm>
            <a:off x="838200" y="900546"/>
            <a:ext cx="10515600" cy="5832763"/>
          </a:xfrm>
        </p:spPr>
        <p:txBody>
          <a:bodyPr/>
          <a:lstStyle/>
          <a:p>
            <a:pPr algn="just"/>
            <a:r>
              <a:rPr lang="en-GB" dirty="0"/>
              <a:t>After selecting a target market for its products, an advertiser designs a </a:t>
            </a:r>
            <a:r>
              <a:rPr lang="en-GB" i="1" dirty="0"/>
              <a:t>strategy to serve that market </a:t>
            </a:r>
            <a:r>
              <a:rPr lang="en-GB" dirty="0"/>
              <a:t>profitably.</a:t>
            </a:r>
          </a:p>
          <a:p>
            <a:pPr algn="just"/>
            <a:endParaRPr lang="en-GB" dirty="0"/>
          </a:p>
          <a:p>
            <a:pPr algn="just"/>
            <a:r>
              <a:rPr lang="en-GB" dirty="0"/>
              <a:t>Marketing strategy is the particular blend, or mix, of strategic </a:t>
            </a:r>
            <a:r>
              <a:rPr lang="en-GB" b="1" i="1" dirty="0"/>
              <a:t>elements over which the marketer has control</a:t>
            </a:r>
            <a:r>
              <a:rPr lang="en-GB" dirty="0"/>
              <a:t>: </a:t>
            </a:r>
          </a:p>
          <a:p>
            <a:pPr algn="just"/>
            <a:r>
              <a:rPr lang="en-GB" dirty="0"/>
              <a:t>product concept, </a:t>
            </a:r>
          </a:p>
          <a:p>
            <a:pPr algn="just"/>
            <a:r>
              <a:rPr lang="en-GB" dirty="0"/>
              <a:t>pricing, </a:t>
            </a:r>
          </a:p>
          <a:p>
            <a:pPr algn="just"/>
            <a:r>
              <a:rPr lang="en-GB" dirty="0"/>
              <a:t>Distribution (place) and</a:t>
            </a:r>
          </a:p>
          <a:p>
            <a:pPr algn="just"/>
            <a:r>
              <a:rPr lang="en-GB" dirty="0"/>
              <a:t>Communication (promotion) </a:t>
            </a:r>
          </a:p>
          <a:p>
            <a:pPr algn="just"/>
            <a:r>
              <a:rPr lang="en-GB" dirty="0"/>
              <a:t>For ease of memory, marketers often refer to these elements as the 4Ps: product, price, place, and promotion. </a:t>
            </a:r>
          </a:p>
          <a:p>
            <a:pPr algn="just"/>
            <a:r>
              <a:rPr lang="en-GB" dirty="0"/>
              <a:t>Each of these elements also influences the type of advertising used. </a:t>
            </a:r>
          </a:p>
        </p:txBody>
      </p:sp>
    </p:spTree>
    <p:extLst>
      <p:ext uri="{BB962C8B-B14F-4D97-AF65-F5344CB8AC3E}">
        <p14:creationId xmlns:p14="http://schemas.microsoft.com/office/powerpoint/2010/main" val="1196401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F9E15-FB98-428F-B3F0-6D70912F9113}"/>
              </a:ext>
            </a:extLst>
          </p:cNvPr>
          <p:cNvSpPr>
            <a:spLocks noGrp="1"/>
          </p:cNvSpPr>
          <p:nvPr>
            <p:ph type="title"/>
          </p:nvPr>
        </p:nvSpPr>
        <p:spPr>
          <a:xfrm>
            <a:off x="838200" y="124692"/>
            <a:ext cx="10515600" cy="556346"/>
          </a:xfrm>
        </p:spPr>
        <p:txBody>
          <a:bodyPr>
            <a:normAutofit fontScale="90000"/>
          </a:bodyPr>
          <a:lstStyle/>
          <a:p>
            <a:r>
              <a:rPr lang="en-GB" dirty="0"/>
              <a:t>Product: Categories of Goods and Services</a:t>
            </a:r>
          </a:p>
        </p:txBody>
      </p:sp>
      <p:sp>
        <p:nvSpPr>
          <p:cNvPr id="3" name="Content Placeholder 2">
            <a:extLst>
              <a:ext uri="{FF2B5EF4-FFF2-40B4-BE49-F238E27FC236}">
                <a16:creationId xmlns:a16="http://schemas.microsoft.com/office/drawing/2014/main" id="{375EBB03-1B38-4693-B682-50C1AA20E01B}"/>
              </a:ext>
            </a:extLst>
          </p:cNvPr>
          <p:cNvSpPr>
            <a:spLocks noGrp="1"/>
          </p:cNvSpPr>
          <p:nvPr>
            <p:ph idx="1"/>
          </p:nvPr>
        </p:nvSpPr>
        <p:spPr>
          <a:xfrm>
            <a:off x="838200" y="681038"/>
            <a:ext cx="10515600" cy="6052270"/>
          </a:xfrm>
        </p:spPr>
        <p:txBody>
          <a:bodyPr>
            <a:normAutofit fontScale="92500" lnSpcReduction="10000"/>
          </a:bodyPr>
          <a:lstStyle/>
          <a:p>
            <a:pPr algn="just"/>
            <a:r>
              <a:rPr lang="en-GB" sz="3600" dirty="0"/>
              <a:t>For virtually every product category, specialists in that area use a specific type of advertising.</a:t>
            </a:r>
          </a:p>
          <a:p>
            <a:pPr algn="just"/>
            <a:endParaRPr lang="en-GB" sz="3600" dirty="0"/>
          </a:p>
          <a:p>
            <a:pPr algn="just"/>
            <a:r>
              <a:rPr lang="en-GB" sz="3600" dirty="0"/>
              <a:t>E.g., for mass-merchandised grocery brands such as laundry detergent, companies use a type of advertising called consumer packaged-goods advertising. </a:t>
            </a:r>
          </a:p>
          <a:p>
            <a:pPr algn="just"/>
            <a:endParaRPr lang="en-GB" sz="3600" dirty="0"/>
          </a:p>
          <a:p>
            <a:pPr algn="just"/>
            <a:r>
              <a:rPr lang="en-GB" sz="3600" dirty="0"/>
              <a:t>A tax preparation firm is likely to use service advertising.</a:t>
            </a:r>
          </a:p>
          <a:p>
            <a:pPr algn="just"/>
            <a:endParaRPr lang="en-GB" sz="3600" dirty="0"/>
          </a:p>
          <a:p>
            <a:pPr algn="just"/>
            <a:r>
              <a:rPr lang="en-GB" sz="3600" dirty="0"/>
              <a:t>Manufacturers of scientific and technical products use high-tech advertising. </a:t>
            </a:r>
          </a:p>
          <a:p>
            <a:pPr marL="0" indent="0" algn="just">
              <a:buNone/>
            </a:pPr>
            <a:r>
              <a:rPr lang="en-GB" sz="3600" dirty="0"/>
              <a:t> </a:t>
            </a:r>
          </a:p>
          <a:p>
            <a:pPr algn="just"/>
            <a:endParaRPr lang="en-GB" dirty="0"/>
          </a:p>
        </p:txBody>
      </p:sp>
    </p:spTree>
    <p:extLst>
      <p:ext uri="{BB962C8B-B14F-4D97-AF65-F5344CB8AC3E}">
        <p14:creationId xmlns:p14="http://schemas.microsoft.com/office/powerpoint/2010/main" val="337266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E5EF6-2D42-4505-946C-8DDB595A12A5}"/>
              </a:ext>
            </a:extLst>
          </p:cNvPr>
          <p:cNvSpPr>
            <a:spLocks noGrp="1"/>
          </p:cNvSpPr>
          <p:nvPr>
            <p:ph type="title"/>
          </p:nvPr>
        </p:nvSpPr>
        <p:spPr>
          <a:xfrm>
            <a:off x="838200" y="0"/>
            <a:ext cx="10515600" cy="681038"/>
          </a:xfrm>
        </p:spPr>
        <p:txBody>
          <a:bodyPr>
            <a:normAutofit fontScale="90000"/>
          </a:bodyPr>
          <a:lstStyle/>
          <a:p>
            <a:r>
              <a:rPr lang="en-GB" dirty="0"/>
              <a:t>Price: Strategies for Emphasizing Value </a:t>
            </a:r>
            <a:br>
              <a:rPr lang="en-GB" dirty="0"/>
            </a:br>
            <a:endParaRPr lang="en-GB" dirty="0"/>
          </a:p>
        </p:txBody>
      </p:sp>
      <p:sp>
        <p:nvSpPr>
          <p:cNvPr id="3" name="Content Placeholder 2">
            <a:extLst>
              <a:ext uri="{FF2B5EF4-FFF2-40B4-BE49-F238E27FC236}">
                <a16:creationId xmlns:a16="http://schemas.microsoft.com/office/drawing/2014/main" id="{41CC12CD-8CF1-4FAC-9371-CF41342EE5A1}"/>
              </a:ext>
            </a:extLst>
          </p:cNvPr>
          <p:cNvSpPr>
            <a:spLocks noGrp="1"/>
          </p:cNvSpPr>
          <p:nvPr>
            <p:ph idx="1"/>
          </p:nvPr>
        </p:nvSpPr>
        <p:spPr>
          <a:xfrm>
            <a:off x="838200" y="415636"/>
            <a:ext cx="10515600" cy="6303819"/>
          </a:xfrm>
        </p:spPr>
        <p:txBody>
          <a:bodyPr>
            <a:normAutofit fontScale="92500" lnSpcReduction="20000"/>
          </a:bodyPr>
          <a:lstStyle/>
          <a:p>
            <a:pPr algn="just"/>
            <a:r>
              <a:rPr lang="en-GB" dirty="0"/>
              <a:t>Consumers view </a:t>
            </a:r>
            <a:r>
              <a:rPr lang="en-GB" b="1" dirty="0"/>
              <a:t>value</a:t>
            </a:r>
            <a:r>
              <a:rPr lang="en-GB" dirty="0"/>
              <a:t> as the ratio of a </a:t>
            </a:r>
            <a:r>
              <a:rPr lang="en-GB" b="1" dirty="0"/>
              <a:t>brand’s quality to its price. </a:t>
            </a:r>
          </a:p>
          <a:p>
            <a:pPr algn="just"/>
            <a:r>
              <a:rPr lang="en-GB" dirty="0"/>
              <a:t>Some products are publicized using </a:t>
            </a:r>
            <a:r>
              <a:rPr lang="en-GB" i="1" dirty="0"/>
              <a:t>price advertising</a:t>
            </a:r>
            <a:r>
              <a:rPr lang="en-GB" dirty="0"/>
              <a:t>, in which an ad claims the product is equal in quality to higher priced brands. </a:t>
            </a:r>
          </a:p>
          <a:p>
            <a:pPr algn="just"/>
            <a:r>
              <a:rPr lang="en-GB" dirty="0"/>
              <a:t>Other goods and services, which do not attempt to compete on price, emphasize </a:t>
            </a:r>
            <a:r>
              <a:rPr lang="en-GB" i="1" dirty="0"/>
              <a:t>product quality. </a:t>
            </a:r>
          </a:p>
          <a:p>
            <a:pPr algn="just"/>
            <a:endParaRPr lang="en-GB" dirty="0"/>
          </a:p>
          <a:p>
            <a:pPr algn="just"/>
            <a:r>
              <a:rPr lang="en-GB" dirty="0"/>
              <a:t>Advertising can be used by retailers, dealers, and shops to call attention to a recent drop in the price of a brand or service. </a:t>
            </a:r>
          </a:p>
          <a:p>
            <a:pPr algn="just"/>
            <a:endParaRPr lang="en-GB" dirty="0"/>
          </a:p>
          <a:p>
            <a:pPr algn="just"/>
            <a:r>
              <a:rPr lang="en-GB" dirty="0"/>
              <a:t>Such advertising allows retailers to match competitor price drops or increase retail traffic.</a:t>
            </a:r>
          </a:p>
          <a:p>
            <a:pPr algn="just"/>
            <a:endParaRPr lang="en-GB" dirty="0"/>
          </a:p>
          <a:p>
            <a:pPr algn="just"/>
            <a:r>
              <a:rPr lang="en-GB" dirty="0"/>
              <a:t>But when a brand is frequently put on sale, consumers may believe it is not worth its regular price. </a:t>
            </a:r>
          </a:p>
          <a:p>
            <a:pPr algn="just"/>
            <a:r>
              <a:rPr lang="en-GB" dirty="0"/>
              <a:t>For this reason, some manufacturers prohibit retailers from discounting their products.</a:t>
            </a:r>
          </a:p>
        </p:txBody>
      </p:sp>
    </p:spTree>
    <p:extLst>
      <p:ext uri="{BB962C8B-B14F-4D97-AF65-F5344CB8AC3E}">
        <p14:creationId xmlns:p14="http://schemas.microsoft.com/office/powerpoint/2010/main" val="3942199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7B0B-C0FB-40DF-8E7D-6E2065A813C4}"/>
              </a:ext>
            </a:extLst>
          </p:cNvPr>
          <p:cNvSpPr>
            <a:spLocks noGrp="1"/>
          </p:cNvSpPr>
          <p:nvPr>
            <p:ph type="title"/>
          </p:nvPr>
        </p:nvSpPr>
        <p:spPr>
          <a:xfrm>
            <a:off x="838200" y="1"/>
            <a:ext cx="10515600" cy="622852"/>
          </a:xfrm>
        </p:spPr>
        <p:txBody>
          <a:bodyPr>
            <a:normAutofit fontScale="90000"/>
          </a:bodyPr>
          <a:lstStyle/>
          <a:p>
            <a:r>
              <a:rPr lang="en-GB" dirty="0"/>
              <a:t>Place: The Distribution Element </a:t>
            </a:r>
          </a:p>
        </p:txBody>
      </p:sp>
      <p:sp>
        <p:nvSpPr>
          <p:cNvPr id="3" name="Content Placeholder 2">
            <a:extLst>
              <a:ext uri="{FF2B5EF4-FFF2-40B4-BE49-F238E27FC236}">
                <a16:creationId xmlns:a16="http://schemas.microsoft.com/office/drawing/2014/main" id="{6D6B48AF-4D63-4FB4-B1E6-03369576A055}"/>
              </a:ext>
            </a:extLst>
          </p:cNvPr>
          <p:cNvSpPr>
            <a:spLocks noGrp="1"/>
          </p:cNvSpPr>
          <p:nvPr>
            <p:ph idx="1"/>
          </p:nvPr>
        </p:nvSpPr>
        <p:spPr>
          <a:xfrm>
            <a:off x="609600" y="622854"/>
            <a:ext cx="10840278" cy="6068892"/>
          </a:xfrm>
        </p:spPr>
        <p:txBody>
          <a:bodyPr>
            <a:normAutofit fontScale="77500" lnSpcReduction="20000"/>
          </a:bodyPr>
          <a:lstStyle/>
          <a:p>
            <a:pPr algn="just"/>
            <a:r>
              <a:rPr lang="en-GB" dirty="0"/>
              <a:t>The third element of marketing strategy, distribution, also affects the type of advertising used. </a:t>
            </a:r>
          </a:p>
          <a:p>
            <a:pPr algn="just"/>
            <a:endParaRPr lang="en-GB" dirty="0"/>
          </a:p>
          <a:p>
            <a:pPr algn="just"/>
            <a:r>
              <a:rPr lang="en-GB" dirty="0"/>
              <a:t>Global marketers such as Coca-Cola and Toyota may use global advertising, in which messages are consistent in ads placed around the world. </a:t>
            </a:r>
          </a:p>
          <a:p>
            <a:pPr algn="just"/>
            <a:endParaRPr lang="en-GB" dirty="0"/>
          </a:p>
          <a:p>
            <a:pPr algn="just"/>
            <a:r>
              <a:rPr lang="en-GB" dirty="0"/>
              <a:t>Other firms may promote their products in foreign markets with international advertising, which may contain different messages. </a:t>
            </a:r>
          </a:p>
          <a:p>
            <a:pPr algn="just"/>
            <a:endParaRPr lang="en-GB" dirty="0"/>
          </a:p>
          <a:p>
            <a:pPr algn="just"/>
            <a:endParaRPr lang="en-GB" dirty="0"/>
          </a:p>
          <a:p>
            <a:pPr algn="just"/>
            <a:r>
              <a:rPr lang="en-GB" dirty="0"/>
              <a:t>Companies that market in several regions of Ghana and use the major mass media are called national advertisers, and their promotion is called national advertising.</a:t>
            </a:r>
          </a:p>
          <a:p>
            <a:pPr algn="just"/>
            <a:endParaRPr lang="en-GB" dirty="0"/>
          </a:p>
          <a:p>
            <a:pPr algn="just"/>
            <a:r>
              <a:rPr lang="en-GB" dirty="0"/>
              <a:t> Some companies sell only in one part of the country or in two or three regions. They use regional advertising, placing their ads in local media or regional editions of national media.</a:t>
            </a:r>
          </a:p>
          <a:p>
            <a:pPr algn="just"/>
            <a:endParaRPr lang="en-GB" dirty="0"/>
          </a:p>
          <a:p>
            <a:pPr algn="just"/>
            <a:r>
              <a:rPr lang="en-GB" dirty="0"/>
              <a:t>Finally, businesses and retailers that sell within one small trading area typically use local advertising placed in local media or direct mail.</a:t>
            </a:r>
          </a:p>
        </p:txBody>
      </p:sp>
    </p:spTree>
    <p:extLst>
      <p:ext uri="{BB962C8B-B14F-4D97-AF65-F5344CB8AC3E}">
        <p14:creationId xmlns:p14="http://schemas.microsoft.com/office/powerpoint/2010/main" val="2253394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1E2F1-50AB-414E-B555-450B627DCB28}"/>
              </a:ext>
            </a:extLst>
          </p:cNvPr>
          <p:cNvSpPr>
            <a:spLocks noGrp="1"/>
          </p:cNvSpPr>
          <p:nvPr>
            <p:ph type="title"/>
          </p:nvPr>
        </p:nvSpPr>
        <p:spPr>
          <a:xfrm>
            <a:off x="838200" y="138545"/>
            <a:ext cx="10515600" cy="542493"/>
          </a:xfrm>
        </p:spPr>
        <p:txBody>
          <a:bodyPr>
            <a:normAutofit fontScale="90000"/>
          </a:bodyPr>
          <a:lstStyle/>
          <a:p>
            <a:r>
              <a:rPr lang="en-GB" dirty="0"/>
              <a:t>Promotion: The Communication Element</a:t>
            </a:r>
          </a:p>
        </p:txBody>
      </p:sp>
      <p:sp>
        <p:nvSpPr>
          <p:cNvPr id="3" name="Content Placeholder 2">
            <a:extLst>
              <a:ext uri="{FF2B5EF4-FFF2-40B4-BE49-F238E27FC236}">
                <a16:creationId xmlns:a16="http://schemas.microsoft.com/office/drawing/2014/main" id="{DC12BEC8-DF8B-4632-9DA2-D50C6C273BA3}"/>
              </a:ext>
            </a:extLst>
          </p:cNvPr>
          <p:cNvSpPr>
            <a:spLocks noGrp="1"/>
          </p:cNvSpPr>
          <p:nvPr>
            <p:ph idx="1"/>
          </p:nvPr>
        </p:nvSpPr>
        <p:spPr>
          <a:xfrm>
            <a:off x="715617" y="681038"/>
            <a:ext cx="10638183" cy="6038417"/>
          </a:xfrm>
        </p:spPr>
        <p:txBody>
          <a:bodyPr>
            <a:normAutofit lnSpcReduction="10000"/>
          </a:bodyPr>
          <a:lstStyle/>
          <a:p>
            <a:pPr algn="just"/>
            <a:r>
              <a:rPr lang="en-GB" dirty="0"/>
              <a:t>The final element of marketing strategy is </a:t>
            </a:r>
            <a:r>
              <a:rPr lang="en-GB" i="1" dirty="0"/>
              <a:t>communication. </a:t>
            </a:r>
          </a:p>
          <a:p>
            <a:pPr algn="just"/>
            <a:r>
              <a:rPr lang="en-GB" b="1" i="1" dirty="0"/>
              <a:t>Marketing communications </a:t>
            </a:r>
            <a:r>
              <a:rPr lang="en-GB" dirty="0"/>
              <a:t>typically refers to all the planned messages that organizations create and disseminate to support their marketing objectives.</a:t>
            </a:r>
          </a:p>
          <a:p>
            <a:pPr algn="just"/>
            <a:endParaRPr lang="en-GB" dirty="0"/>
          </a:p>
          <a:p>
            <a:pPr algn="just"/>
            <a:r>
              <a:rPr lang="en-GB" dirty="0"/>
              <a:t>Advertising is just one of the tools in the marketing communications tool kit. </a:t>
            </a:r>
          </a:p>
          <a:p>
            <a:pPr algn="just"/>
            <a:r>
              <a:rPr lang="en-GB" dirty="0"/>
              <a:t>In addition to advertising, </a:t>
            </a:r>
            <a:r>
              <a:rPr lang="en-GB" b="1" dirty="0"/>
              <a:t>major marketing communication tools </a:t>
            </a:r>
            <a:r>
              <a:rPr lang="en-GB" dirty="0"/>
              <a:t>include </a:t>
            </a:r>
            <a:r>
              <a:rPr lang="en-GB" i="1" dirty="0"/>
              <a:t>personal selling, sales promotion, public relations activities, and collateral materials</a:t>
            </a:r>
            <a:r>
              <a:rPr lang="en-GB" dirty="0"/>
              <a:t>. </a:t>
            </a:r>
          </a:p>
          <a:p>
            <a:pPr algn="just"/>
            <a:r>
              <a:rPr lang="en-GB" dirty="0"/>
              <a:t>You can decide to use all these tools in your marketing mix.</a:t>
            </a:r>
          </a:p>
          <a:p>
            <a:pPr algn="just"/>
            <a:endParaRPr lang="en-GB" dirty="0"/>
          </a:p>
          <a:p>
            <a:pPr algn="just"/>
            <a:r>
              <a:rPr lang="en-GB" dirty="0"/>
              <a:t>Each marketing communication tool offers particular opportunities and benefits to the marketer. </a:t>
            </a:r>
          </a:p>
          <a:p>
            <a:pPr algn="just"/>
            <a:endParaRPr lang="en-GB" b="1" dirty="0"/>
          </a:p>
        </p:txBody>
      </p:sp>
    </p:spTree>
    <p:extLst>
      <p:ext uri="{BB962C8B-B14F-4D97-AF65-F5344CB8AC3E}">
        <p14:creationId xmlns:p14="http://schemas.microsoft.com/office/powerpoint/2010/main" val="1175138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3303F-BAF3-47F7-B4B9-321B610F05A9}"/>
              </a:ext>
            </a:extLst>
          </p:cNvPr>
          <p:cNvSpPr>
            <a:spLocks noGrp="1"/>
          </p:cNvSpPr>
          <p:nvPr>
            <p:ph type="title"/>
          </p:nvPr>
        </p:nvSpPr>
        <p:spPr>
          <a:xfrm>
            <a:off x="838200" y="166255"/>
            <a:ext cx="10515600" cy="369166"/>
          </a:xfrm>
        </p:spPr>
        <p:txBody>
          <a:bodyPr>
            <a:normAutofit fontScale="90000"/>
          </a:bodyPr>
          <a:lstStyle/>
          <a:p>
            <a:r>
              <a:rPr lang="en-GB" dirty="0"/>
              <a:t>Promotion: The Communication Element</a:t>
            </a:r>
          </a:p>
        </p:txBody>
      </p:sp>
      <p:sp>
        <p:nvSpPr>
          <p:cNvPr id="3" name="Content Placeholder 2">
            <a:extLst>
              <a:ext uri="{FF2B5EF4-FFF2-40B4-BE49-F238E27FC236}">
                <a16:creationId xmlns:a16="http://schemas.microsoft.com/office/drawing/2014/main" id="{5E42AC91-99FB-4ADE-97E0-61C8E398B0E3}"/>
              </a:ext>
            </a:extLst>
          </p:cNvPr>
          <p:cNvSpPr>
            <a:spLocks noGrp="1"/>
          </p:cNvSpPr>
          <p:nvPr>
            <p:ph idx="1"/>
          </p:nvPr>
        </p:nvSpPr>
        <p:spPr>
          <a:xfrm>
            <a:off x="671946" y="675860"/>
            <a:ext cx="10515600" cy="6182139"/>
          </a:xfrm>
        </p:spPr>
        <p:txBody>
          <a:bodyPr>
            <a:normAutofit fontScale="85000" lnSpcReduction="20000"/>
          </a:bodyPr>
          <a:lstStyle/>
          <a:p>
            <a:pPr algn="just"/>
            <a:r>
              <a:rPr lang="en-GB" sz="4000" b="1" dirty="0"/>
              <a:t>1. Personal selling: </a:t>
            </a:r>
            <a:r>
              <a:rPr lang="en-GB" sz="2900" dirty="0"/>
              <a:t>Here, </a:t>
            </a:r>
            <a:r>
              <a:rPr lang="en-GB" dirty="0"/>
              <a:t>salespeople deal directly with customers either face-to-face or via telemarketing. </a:t>
            </a:r>
          </a:p>
          <a:p>
            <a:pPr algn="just"/>
            <a:endParaRPr lang="en-GB" dirty="0"/>
          </a:p>
          <a:p>
            <a:pPr algn="just"/>
            <a:r>
              <a:rPr lang="en-GB" dirty="0"/>
              <a:t>Personal selling is ideal for conveying information and giving demonstrations, especially on high-ticket items such as cars, real estate, and furniture etc.</a:t>
            </a:r>
          </a:p>
          <a:p>
            <a:pPr marL="0" indent="0" algn="just">
              <a:buNone/>
            </a:pPr>
            <a:endParaRPr lang="en-GB" dirty="0"/>
          </a:p>
          <a:p>
            <a:pPr algn="just"/>
            <a:r>
              <a:rPr lang="en-GB" dirty="0"/>
              <a:t>Advertising enables marketers to reach more prospects at lower cost than a salesperson could ever do. </a:t>
            </a:r>
          </a:p>
          <a:p>
            <a:pPr algn="just"/>
            <a:endParaRPr lang="en-GB" dirty="0"/>
          </a:p>
          <a:p>
            <a:pPr algn="just"/>
            <a:r>
              <a:rPr lang="en-GB" dirty="0"/>
              <a:t>Also, the creativity in-built in advertising allows the marketer to create an image or personality, full of symbolic meaning and benefits, for the company’s brand. </a:t>
            </a:r>
          </a:p>
          <a:p>
            <a:pPr algn="just"/>
            <a:r>
              <a:rPr lang="en-GB" dirty="0"/>
              <a:t>No salesperson can do this.</a:t>
            </a:r>
          </a:p>
          <a:p>
            <a:pPr algn="just"/>
            <a:endParaRPr lang="en-GB" dirty="0"/>
          </a:p>
          <a:p>
            <a:pPr algn="just"/>
            <a:r>
              <a:rPr lang="en-GB" dirty="0"/>
              <a:t>But, advertising does suffer from credibility gaps. </a:t>
            </a:r>
          </a:p>
          <a:p>
            <a:pPr algn="just"/>
            <a:r>
              <a:rPr lang="en-GB" dirty="0"/>
              <a:t>Advertising as a marketing communication tool, is used in satisfying the sponsor’s objectives, including </a:t>
            </a:r>
            <a:r>
              <a:rPr lang="en-GB" b="1" i="1" dirty="0"/>
              <a:t>creating brand awareness, familiarity, and image, as well as for reinforcing prior purchase decisions. </a:t>
            </a:r>
          </a:p>
        </p:txBody>
      </p:sp>
    </p:spTree>
    <p:extLst>
      <p:ext uri="{BB962C8B-B14F-4D97-AF65-F5344CB8AC3E}">
        <p14:creationId xmlns:p14="http://schemas.microsoft.com/office/powerpoint/2010/main" val="2995395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84D2-C50D-4907-AED6-4E6254740ABA}"/>
              </a:ext>
            </a:extLst>
          </p:cNvPr>
          <p:cNvSpPr>
            <a:spLocks noGrp="1"/>
          </p:cNvSpPr>
          <p:nvPr>
            <p:ph type="title"/>
          </p:nvPr>
        </p:nvSpPr>
        <p:spPr>
          <a:xfrm>
            <a:off x="838200" y="1"/>
            <a:ext cx="10515600" cy="803564"/>
          </a:xfrm>
        </p:spPr>
        <p:txBody>
          <a:bodyPr>
            <a:normAutofit/>
          </a:bodyPr>
          <a:lstStyle/>
          <a:p>
            <a:r>
              <a:rPr lang="en-GB" dirty="0"/>
              <a:t>Promotion: The Communication Element</a:t>
            </a:r>
          </a:p>
        </p:txBody>
      </p:sp>
      <p:sp>
        <p:nvSpPr>
          <p:cNvPr id="3" name="Content Placeholder 2">
            <a:extLst>
              <a:ext uri="{FF2B5EF4-FFF2-40B4-BE49-F238E27FC236}">
                <a16:creationId xmlns:a16="http://schemas.microsoft.com/office/drawing/2014/main" id="{3BE82E0A-21CC-4E8E-9773-1E2D5EBF7734}"/>
              </a:ext>
            </a:extLst>
          </p:cNvPr>
          <p:cNvSpPr>
            <a:spLocks noGrp="1"/>
          </p:cNvSpPr>
          <p:nvPr>
            <p:ph idx="1"/>
          </p:nvPr>
        </p:nvSpPr>
        <p:spPr>
          <a:xfrm>
            <a:off x="838200" y="803565"/>
            <a:ext cx="10515600" cy="5888180"/>
          </a:xfrm>
        </p:spPr>
        <p:txBody>
          <a:bodyPr>
            <a:normAutofit/>
          </a:bodyPr>
          <a:lstStyle/>
          <a:p>
            <a:pPr algn="just"/>
            <a:r>
              <a:rPr lang="en-GB" dirty="0"/>
              <a:t>To promote goods and services, companies use </a:t>
            </a:r>
            <a:r>
              <a:rPr lang="en-GB" b="1" dirty="0"/>
              <a:t>product advertising. </a:t>
            </a:r>
          </a:p>
          <a:p>
            <a:pPr algn="just"/>
            <a:endParaRPr lang="en-GB" dirty="0"/>
          </a:p>
          <a:p>
            <a:pPr algn="just"/>
            <a:r>
              <a:rPr lang="en-GB" dirty="0"/>
              <a:t>Ads promoting use of </a:t>
            </a:r>
            <a:r>
              <a:rPr lang="en-GB" dirty="0" err="1"/>
              <a:t>Pepsodent</a:t>
            </a:r>
            <a:r>
              <a:rPr lang="en-GB" dirty="0"/>
              <a:t>, </a:t>
            </a:r>
            <a:r>
              <a:rPr lang="en-GB" dirty="0" err="1"/>
              <a:t>Keysoap</a:t>
            </a:r>
            <a:r>
              <a:rPr lang="en-GB" dirty="0"/>
              <a:t>, Cindy rice are product ads. Ads promoting banking and insurance services are also product ads.</a:t>
            </a:r>
          </a:p>
          <a:p>
            <a:pPr algn="just"/>
            <a:endParaRPr lang="en-GB" dirty="0"/>
          </a:p>
          <a:p>
            <a:pPr algn="just"/>
            <a:r>
              <a:rPr lang="en-GB" dirty="0"/>
              <a:t>To sell ideas, organizations use </a:t>
            </a:r>
            <a:r>
              <a:rPr lang="en-GB" b="1" dirty="0"/>
              <a:t>nonproduct advertising</a:t>
            </a:r>
            <a:r>
              <a:rPr lang="en-GB" dirty="0"/>
              <a:t>. E.g. political party ads, ads to discourage open defecation, illegal mining. </a:t>
            </a:r>
          </a:p>
          <a:p>
            <a:pPr algn="just"/>
            <a:endParaRPr lang="en-GB" dirty="0"/>
          </a:p>
          <a:p>
            <a:pPr algn="just"/>
            <a:r>
              <a:rPr lang="en-GB" dirty="0"/>
              <a:t>An ad promoting a company’s </a:t>
            </a:r>
            <a:r>
              <a:rPr lang="en-GB" i="1" dirty="0"/>
              <a:t>mission or philosophy </a:t>
            </a:r>
            <a:r>
              <a:rPr lang="en-GB" dirty="0"/>
              <a:t>(for example, how the company develops new technologies to conserve energy and protect the environment) is called </a:t>
            </a:r>
            <a:r>
              <a:rPr lang="en-GB" i="1" dirty="0"/>
              <a:t>nonproduct, corporate, or institutional advertising. </a:t>
            </a:r>
          </a:p>
        </p:txBody>
      </p:sp>
    </p:spTree>
    <p:extLst>
      <p:ext uri="{BB962C8B-B14F-4D97-AF65-F5344CB8AC3E}">
        <p14:creationId xmlns:p14="http://schemas.microsoft.com/office/powerpoint/2010/main" val="608506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D6AED-203A-410D-859A-54BF7943DBEF}"/>
              </a:ext>
            </a:extLst>
          </p:cNvPr>
          <p:cNvSpPr>
            <a:spLocks noGrp="1"/>
          </p:cNvSpPr>
          <p:nvPr>
            <p:ph type="title"/>
          </p:nvPr>
        </p:nvSpPr>
        <p:spPr>
          <a:xfrm>
            <a:off x="838200" y="124692"/>
            <a:ext cx="10515600" cy="556346"/>
          </a:xfrm>
        </p:spPr>
        <p:txBody>
          <a:bodyPr>
            <a:normAutofit fontScale="90000"/>
          </a:bodyPr>
          <a:lstStyle/>
          <a:p>
            <a:r>
              <a:rPr lang="en-GB" dirty="0"/>
              <a:t>Promotion: The Communication Element</a:t>
            </a:r>
          </a:p>
        </p:txBody>
      </p:sp>
      <p:sp>
        <p:nvSpPr>
          <p:cNvPr id="3" name="Content Placeholder 2">
            <a:extLst>
              <a:ext uri="{FF2B5EF4-FFF2-40B4-BE49-F238E27FC236}">
                <a16:creationId xmlns:a16="http://schemas.microsoft.com/office/drawing/2014/main" id="{CCD0562E-DB19-4230-B0BA-AB208FEBF9F8}"/>
              </a:ext>
            </a:extLst>
          </p:cNvPr>
          <p:cNvSpPr>
            <a:spLocks noGrp="1"/>
          </p:cNvSpPr>
          <p:nvPr>
            <p:ph idx="1"/>
          </p:nvPr>
        </p:nvSpPr>
        <p:spPr>
          <a:xfrm>
            <a:off x="838200" y="681038"/>
            <a:ext cx="10515600" cy="6052270"/>
          </a:xfrm>
        </p:spPr>
        <p:txBody>
          <a:bodyPr>
            <a:normAutofit fontScale="92500" lnSpcReduction="20000"/>
          </a:bodyPr>
          <a:lstStyle/>
          <a:p>
            <a:pPr algn="just"/>
            <a:r>
              <a:rPr lang="en-GB" dirty="0"/>
              <a:t>Similarly, while commercial advertising seeks profits, </a:t>
            </a:r>
            <a:r>
              <a:rPr lang="en-GB" b="1" dirty="0" err="1"/>
              <a:t>noncommercial</a:t>
            </a:r>
            <a:r>
              <a:rPr lang="en-GB" b="1" dirty="0"/>
              <a:t> advertising </a:t>
            </a:r>
            <a:r>
              <a:rPr lang="en-GB" dirty="0"/>
              <a:t>is used by governments and </a:t>
            </a:r>
            <a:r>
              <a:rPr lang="en-GB" dirty="0" err="1"/>
              <a:t>nonprofit</a:t>
            </a:r>
            <a:r>
              <a:rPr lang="en-GB" dirty="0"/>
              <a:t> organizations to seek donations, volunteer support etc.</a:t>
            </a:r>
          </a:p>
          <a:p>
            <a:pPr algn="just"/>
            <a:endParaRPr lang="en-GB" dirty="0"/>
          </a:p>
          <a:p>
            <a:pPr algn="just"/>
            <a:r>
              <a:rPr lang="en-GB" dirty="0"/>
              <a:t>Some ads aim to bring about immediate action by the reader; others have a longer-term goal. </a:t>
            </a:r>
          </a:p>
          <a:p>
            <a:pPr algn="just"/>
            <a:endParaRPr lang="en-GB" dirty="0"/>
          </a:p>
          <a:p>
            <a:pPr algn="just"/>
            <a:r>
              <a:rPr lang="en-GB" dirty="0"/>
              <a:t>E.g. The objectives of </a:t>
            </a:r>
            <a:r>
              <a:rPr lang="en-GB" b="1" dirty="0"/>
              <a:t>awareness advertising</a:t>
            </a:r>
            <a:r>
              <a:rPr lang="en-GB" dirty="0"/>
              <a:t> are to create an image for a product and to position it competitively with the goal of getting viewers to select the brand </a:t>
            </a:r>
            <a:r>
              <a:rPr lang="en-GB" i="1" dirty="0"/>
              <a:t>the next time they shop. </a:t>
            </a:r>
          </a:p>
          <a:p>
            <a:pPr algn="just"/>
            <a:endParaRPr lang="en-GB" dirty="0"/>
          </a:p>
          <a:p>
            <a:pPr algn="just"/>
            <a:r>
              <a:rPr lang="en-GB" dirty="0"/>
              <a:t>A direct-mail ad, on the other hand, exemplifies </a:t>
            </a:r>
            <a:r>
              <a:rPr lang="en-GB" b="1" dirty="0"/>
              <a:t>action (or direct-response) advertising</a:t>
            </a:r>
            <a:r>
              <a:rPr lang="en-GB" dirty="0"/>
              <a:t> because it seeks an immediate, direct response from the reader. </a:t>
            </a:r>
          </a:p>
          <a:p>
            <a:pPr algn="just"/>
            <a:endParaRPr lang="en-GB" dirty="0"/>
          </a:p>
          <a:p>
            <a:pPr algn="just"/>
            <a:r>
              <a:rPr lang="en-GB" dirty="0"/>
              <a:t>Most ads on TV and radio are awareness ads.</a:t>
            </a:r>
          </a:p>
        </p:txBody>
      </p:sp>
    </p:spTree>
    <p:extLst>
      <p:ext uri="{BB962C8B-B14F-4D97-AF65-F5344CB8AC3E}">
        <p14:creationId xmlns:p14="http://schemas.microsoft.com/office/powerpoint/2010/main" val="2311593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FB71-8731-49E9-BA2D-960C977CFA60}"/>
              </a:ext>
            </a:extLst>
          </p:cNvPr>
          <p:cNvSpPr>
            <a:spLocks noGrp="1"/>
          </p:cNvSpPr>
          <p:nvPr>
            <p:ph type="title"/>
          </p:nvPr>
        </p:nvSpPr>
        <p:spPr>
          <a:xfrm>
            <a:off x="838200" y="0"/>
            <a:ext cx="10515600" cy="702366"/>
          </a:xfrm>
        </p:spPr>
        <p:txBody>
          <a:bodyPr>
            <a:normAutofit/>
          </a:bodyPr>
          <a:lstStyle/>
          <a:p>
            <a:r>
              <a:rPr lang="en-GB" dirty="0"/>
              <a:t>Promotion: The Communication Element</a:t>
            </a:r>
          </a:p>
        </p:txBody>
      </p:sp>
      <p:sp>
        <p:nvSpPr>
          <p:cNvPr id="3" name="Content Placeholder 2">
            <a:extLst>
              <a:ext uri="{FF2B5EF4-FFF2-40B4-BE49-F238E27FC236}">
                <a16:creationId xmlns:a16="http://schemas.microsoft.com/office/drawing/2014/main" id="{AD2C8C3A-AD3B-4EEE-814A-EED18E43E6B2}"/>
              </a:ext>
            </a:extLst>
          </p:cNvPr>
          <p:cNvSpPr>
            <a:spLocks noGrp="1"/>
          </p:cNvSpPr>
          <p:nvPr>
            <p:ph idx="1"/>
          </p:nvPr>
        </p:nvSpPr>
        <p:spPr>
          <a:xfrm>
            <a:off x="838200" y="702366"/>
            <a:ext cx="10515600" cy="6155634"/>
          </a:xfrm>
        </p:spPr>
        <p:txBody>
          <a:bodyPr>
            <a:normAutofit/>
          </a:bodyPr>
          <a:lstStyle/>
          <a:p>
            <a:pPr algn="just"/>
            <a:r>
              <a:rPr lang="en-GB" sz="3200" b="1" dirty="0"/>
              <a:t>2. Sales promotion </a:t>
            </a:r>
            <a:r>
              <a:rPr lang="en-GB" sz="3200" dirty="0"/>
              <a:t>is a communication tool that offers special incentives to motivate people to act right away.</a:t>
            </a:r>
          </a:p>
          <a:p>
            <a:pPr marL="0" indent="0" algn="just">
              <a:buNone/>
            </a:pPr>
            <a:endParaRPr lang="en-GB" sz="3200" dirty="0"/>
          </a:p>
          <a:p>
            <a:pPr algn="just"/>
            <a:r>
              <a:rPr lang="en-GB" sz="3200" dirty="0"/>
              <a:t>The incentives may </a:t>
            </a:r>
            <a:r>
              <a:rPr lang="en-GB" sz="3200" i="1" dirty="0"/>
              <a:t>be coupons, free samples, contests, or rebates on the purchase price. </a:t>
            </a:r>
          </a:p>
          <a:p>
            <a:pPr algn="just"/>
            <a:endParaRPr lang="en-GB" sz="3200" dirty="0"/>
          </a:p>
          <a:p>
            <a:pPr algn="just"/>
            <a:r>
              <a:rPr lang="en-GB" sz="3200" dirty="0"/>
              <a:t>By offering added value, sales promotion accelerates sales. </a:t>
            </a:r>
          </a:p>
          <a:p>
            <a:pPr algn="just"/>
            <a:endParaRPr lang="en-GB" sz="3200" dirty="0"/>
          </a:p>
          <a:p>
            <a:pPr algn="just"/>
            <a:r>
              <a:rPr lang="en-GB" sz="3200" dirty="0"/>
              <a:t>Sales promotion is often used in conjunction with advertising—to promote the promotion.</a:t>
            </a:r>
          </a:p>
        </p:txBody>
      </p:sp>
    </p:spTree>
    <p:extLst>
      <p:ext uri="{BB962C8B-B14F-4D97-AF65-F5344CB8AC3E}">
        <p14:creationId xmlns:p14="http://schemas.microsoft.com/office/powerpoint/2010/main" val="3999081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6A359-D5EE-4F2F-8FFE-A9430FD9990A}"/>
              </a:ext>
            </a:extLst>
          </p:cNvPr>
          <p:cNvSpPr>
            <a:spLocks noGrp="1"/>
          </p:cNvSpPr>
          <p:nvPr>
            <p:ph type="title"/>
          </p:nvPr>
        </p:nvSpPr>
        <p:spPr>
          <a:xfrm>
            <a:off x="838200" y="96984"/>
            <a:ext cx="10515600" cy="678872"/>
          </a:xfrm>
        </p:spPr>
        <p:txBody>
          <a:bodyPr>
            <a:normAutofit fontScale="90000"/>
          </a:bodyPr>
          <a:lstStyle/>
          <a:p>
            <a:r>
              <a:rPr lang="en-GB" dirty="0"/>
              <a:t>Promotion: The Communication Element</a:t>
            </a:r>
          </a:p>
        </p:txBody>
      </p:sp>
      <p:sp>
        <p:nvSpPr>
          <p:cNvPr id="3" name="Content Placeholder 2">
            <a:extLst>
              <a:ext uri="{FF2B5EF4-FFF2-40B4-BE49-F238E27FC236}">
                <a16:creationId xmlns:a16="http://schemas.microsoft.com/office/drawing/2014/main" id="{A79C2CA1-5DC7-4766-8BA9-CBEB950C362D}"/>
              </a:ext>
            </a:extLst>
          </p:cNvPr>
          <p:cNvSpPr>
            <a:spLocks noGrp="1"/>
          </p:cNvSpPr>
          <p:nvPr>
            <p:ph idx="1"/>
          </p:nvPr>
        </p:nvSpPr>
        <p:spPr>
          <a:xfrm>
            <a:off x="742122" y="775856"/>
            <a:ext cx="10707756" cy="5985161"/>
          </a:xfrm>
        </p:spPr>
        <p:txBody>
          <a:bodyPr>
            <a:normAutofit/>
          </a:bodyPr>
          <a:lstStyle/>
          <a:p>
            <a:pPr algn="just"/>
            <a:r>
              <a:rPr lang="en-GB" b="1" dirty="0"/>
              <a:t>3. Public relations </a:t>
            </a:r>
            <a:r>
              <a:rPr lang="en-GB" dirty="0"/>
              <a:t>(PR) is an umbrella process—much like marketing— responsible for managing the firm’s relationships with its various publics. </a:t>
            </a:r>
          </a:p>
          <a:p>
            <a:pPr algn="just"/>
            <a:r>
              <a:rPr lang="en-GB" dirty="0"/>
              <a:t>The publics include customers, employees, stockholders, suppliers, government regulators, interest groups, and the press or media. </a:t>
            </a:r>
          </a:p>
          <a:p>
            <a:pPr algn="just"/>
            <a:endParaRPr lang="en-GB" dirty="0"/>
          </a:p>
          <a:p>
            <a:pPr algn="just"/>
            <a:r>
              <a:rPr lang="en-GB" dirty="0"/>
              <a:t>Marketers use certain PR</a:t>
            </a:r>
            <a:r>
              <a:rPr lang="en-GB" b="1" dirty="0"/>
              <a:t> </a:t>
            </a:r>
            <a:r>
              <a:rPr lang="en-GB" dirty="0"/>
              <a:t>activities because they are good at creating awareness and credibility for the firm at relatively low cost. </a:t>
            </a:r>
          </a:p>
          <a:p>
            <a:pPr algn="just"/>
            <a:endParaRPr lang="en-GB" dirty="0"/>
          </a:p>
          <a:p>
            <a:pPr algn="just"/>
            <a:r>
              <a:rPr lang="en-GB" dirty="0"/>
              <a:t>These activities (often referred to as </a:t>
            </a:r>
            <a:r>
              <a:rPr lang="en-GB" b="1" dirty="0"/>
              <a:t>marketing PR</a:t>
            </a:r>
            <a:r>
              <a:rPr lang="en-GB" dirty="0"/>
              <a:t>) include publicity, sponsorships, special events, and a special kind of advertising called </a:t>
            </a:r>
            <a:r>
              <a:rPr lang="en-GB" b="1" dirty="0"/>
              <a:t>public relations advertising</a:t>
            </a:r>
            <a:r>
              <a:rPr lang="en-GB" dirty="0"/>
              <a:t>, which uses the structured, sponsored format of media advertising to accomplish PR goals. </a:t>
            </a:r>
          </a:p>
          <a:p>
            <a:pPr algn="just"/>
            <a:endParaRPr lang="en-GB" b="1" dirty="0"/>
          </a:p>
        </p:txBody>
      </p:sp>
    </p:spTree>
    <p:extLst>
      <p:ext uri="{BB962C8B-B14F-4D97-AF65-F5344CB8AC3E}">
        <p14:creationId xmlns:p14="http://schemas.microsoft.com/office/powerpoint/2010/main" val="3481712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B0784-8362-4650-9A72-A8BB35680191}"/>
              </a:ext>
            </a:extLst>
          </p:cNvPr>
          <p:cNvSpPr>
            <a:spLocks noGrp="1"/>
          </p:cNvSpPr>
          <p:nvPr>
            <p:ph type="title"/>
          </p:nvPr>
        </p:nvSpPr>
        <p:spPr>
          <a:xfrm>
            <a:off x="838200" y="365126"/>
            <a:ext cx="10515600" cy="840220"/>
          </a:xfrm>
        </p:spPr>
        <p:txBody>
          <a:bodyPr/>
          <a:lstStyle/>
          <a:p>
            <a:r>
              <a:rPr lang="en-GB" dirty="0"/>
              <a:t>Promotion: The Communication Element</a:t>
            </a:r>
          </a:p>
        </p:txBody>
      </p:sp>
      <p:sp>
        <p:nvSpPr>
          <p:cNvPr id="3" name="Content Placeholder 2">
            <a:extLst>
              <a:ext uri="{FF2B5EF4-FFF2-40B4-BE49-F238E27FC236}">
                <a16:creationId xmlns:a16="http://schemas.microsoft.com/office/drawing/2014/main" id="{BD55DB7A-0BB9-49C4-9432-86444FFDB6A3}"/>
              </a:ext>
            </a:extLst>
          </p:cNvPr>
          <p:cNvSpPr>
            <a:spLocks noGrp="1"/>
          </p:cNvSpPr>
          <p:nvPr>
            <p:ph idx="1"/>
          </p:nvPr>
        </p:nvSpPr>
        <p:spPr>
          <a:xfrm>
            <a:off x="838200" y="1330036"/>
            <a:ext cx="10515600" cy="5162838"/>
          </a:xfrm>
        </p:spPr>
        <p:txBody>
          <a:bodyPr/>
          <a:lstStyle/>
          <a:p>
            <a:pPr algn="just"/>
            <a:r>
              <a:rPr lang="en-GB" b="1" dirty="0"/>
              <a:t>4. Collateral materials</a:t>
            </a:r>
          </a:p>
          <a:p>
            <a:pPr algn="just"/>
            <a:r>
              <a:rPr lang="en-GB" dirty="0"/>
              <a:t>Companies use various promotional tools other than media advertising to communicate information about themselves and their brands. </a:t>
            </a:r>
          </a:p>
          <a:p>
            <a:pPr algn="just"/>
            <a:endParaRPr lang="en-GB" dirty="0"/>
          </a:p>
          <a:p>
            <a:pPr algn="just"/>
            <a:r>
              <a:rPr lang="en-GB" dirty="0"/>
              <a:t>These </a:t>
            </a:r>
            <a:r>
              <a:rPr lang="en-GB" b="1" dirty="0"/>
              <a:t>collateral materials </a:t>
            </a:r>
            <a:r>
              <a:rPr lang="en-GB" dirty="0"/>
              <a:t>include fliers, brochures, posters, instruction booklets etc. </a:t>
            </a:r>
          </a:p>
          <a:p>
            <a:endParaRPr lang="en-GB" dirty="0"/>
          </a:p>
        </p:txBody>
      </p:sp>
    </p:spTree>
    <p:extLst>
      <p:ext uri="{BB962C8B-B14F-4D97-AF65-F5344CB8AC3E}">
        <p14:creationId xmlns:p14="http://schemas.microsoft.com/office/powerpoint/2010/main" val="2970037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3E36D-7EC6-49AA-BEA8-315F14E60643}"/>
              </a:ext>
            </a:extLst>
          </p:cNvPr>
          <p:cNvSpPr>
            <a:spLocks noGrp="1"/>
          </p:cNvSpPr>
          <p:nvPr>
            <p:ph type="title"/>
          </p:nvPr>
        </p:nvSpPr>
        <p:spPr>
          <a:xfrm>
            <a:off x="838200" y="96983"/>
            <a:ext cx="10515600" cy="584054"/>
          </a:xfrm>
        </p:spPr>
        <p:txBody>
          <a:bodyPr>
            <a:normAutofit fontScale="90000"/>
          </a:bodyPr>
          <a:lstStyle/>
          <a:p>
            <a:r>
              <a:rPr lang="en-GB" dirty="0"/>
              <a:t>Integrating Marketing Communications</a:t>
            </a:r>
          </a:p>
        </p:txBody>
      </p:sp>
      <p:sp>
        <p:nvSpPr>
          <p:cNvPr id="3" name="Content Placeholder 2">
            <a:extLst>
              <a:ext uri="{FF2B5EF4-FFF2-40B4-BE49-F238E27FC236}">
                <a16:creationId xmlns:a16="http://schemas.microsoft.com/office/drawing/2014/main" id="{BA4E05E4-8F23-4E5B-A6FC-DD3AC2820732}"/>
              </a:ext>
            </a:extLst>
          </p:cNvPr>
          <p:cNvSpPr>
            <a:spLocks noGrp="1"/>
          </p:cNvSpPr>
          <p:nvPr>
            <p:ph idx="1"/>
          </p:nvPr>
        </p:nvSpPr>
        <p:spPr>
          <a:xfrm>
            <a:off x="838200" y="681036"/>
            <a:ext cx="10515600" cy="5969145"/>
          </a:xfrm>
        </p:spPr>
        <p:txBody>
          <a:bodyPr>
            <a:normAutofit fontScale="92500" lnSpcReduction="20000"/>
          </a:bodyPr>
          <a:lstStyle/>
          <a:p>
            <a:pPr algn="just"/>
            <a:r>
              <a:rPr lang="en-GB" dirty="0"/>
              <a:t>In recent years, marketers have searched for new ways to do marketing communications. </a:t>
            </a:r>
          </a:p>
          <a:p>
            <a:pPr algn="just"/>
            <a:endParaRPr lang="en-GB" dirty="0"/>
          </a:p>
          <a:p>
            <a:pPr algn="just"/>
            <a:r>
              <a:rPr lang="en-GB" dirty="0"/>
              <a:t>Management  of companies increasingly understand that:</a:t>
            </a:r>
          </a:p>
          <a:p>
            <a:pPr algn="just"/>
            <a:r>
              <a:rPr lang="en-GB" dirty="0"/>
              <a:t>(1) the efficiencies of mass media advertising are not what they used to be; </a:t>
            </a:r>
          </a:p>
          <a:p>
            <a:pPr algn="just"/>
            <a:r>
              <a:rPr lang="en-GB" dirty="0"/>
              <a:t>(2) consumers are more sophisticated and distrusting than ever before; </a:t>
            </a:r>
          </a:p>
          <a:p>
            <a:pPr algn="just"/>
            <a:r>
              <a:rPr lang="en-GB" dirty="0"/>
              <a:t>(3) huge gaps exist between what companies say in their advertising and what they actually do; and </a:t>
            </a:r>
          </a:p>
          <a:p>
            <a:pPr algn="just"/>
            <a:r>
              <a:rPr lang="en-GB" dirty="0"/>
              <a:t>(4) nourishing good customer relationships is more important than making simple exchanges. </a:t>
            </a:r>
          </a:p>
          <a:p>
            <a:pPr algn="just"/>
            <a:endParaRPr lang="en-GB" dirty="0"/>
          </a:p>
          <a:p>
            <a:pPr algn="just"/>
            <a:r>
              <a:rPr lang="en-GB" dirty="0"/>
              <a:t>Now, the marketing trend is moving towards </a:t>
            </a:r>
            <a:r>
              <a:rPr lang="en-GB" i="1" dirty="0"/>
              <a:t>integrating all the messages created by an advertiser’s various communication agencies</a:t>
            </a:r>
            <a:r>
              <a:rPr lang="en-GB" dirty="0"/>
              <a:t> and sent out by various departments within the company to achieve consistency. </a:t>
            </a:r>
          </a:p>
          <a:p>
            <a:pPr algn="just"/>
            <a:endParaRPr lang="en-GB" dirty="0"/>
          </a:p>
          <a:p>
            <a:pPr algn="just"/>
            <a:r>
              <a:rPr lang="en-GB" dirty="0"/>
              <a:t>This process is called </a:t>
            </a:r>
            <a:r>
              <a:rPr lang="en-GB" b="1" dirty="0"/>
              <a:t>integrated marketing communications </a:t>
            </a:r>
            <a:r>
              <a:rPr lang="en-GB" dirty="0"/>
              <a:t>(IMC).</a:t>
            </a:r>
          </a:p>
        </p:txBody>
      </p:sp>
    </p:spTree>
    <p:extLst>
      <p:ext uri="{BB962C8B-B14F-4D97-AF65-F5344CB8AC3E}">
        <p14:creationId xmlns:p14="http://schemas.microsoft.com/office/powerpoint/2010/main" val="2752928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27D44-8D25-430A-BCF9-D2CB59D4B9C4}"/>
              </a:ext>
            </a:extLst>
          </p:cNvPr>
          <p:cNvSpPr>
            <a:spLocks noGrp="1"/>
          </p:cNvSpPr>
          <p:nvPr>
            <p:ph type="title"/>
          </p:nvPr>
        </p:nvSpPr>
        <p:spPr>
          <a:xfrm>
            <a:off x="838200" y="365126"/>
            <a:ext cx="10515600" cy="563129"/>
          </a:xfrm>
        </p:spPr>
        <p:txBody>
          <a:bodyPr>
            <a:normAutofit fontScale="90000"/>
          </a:bodyPr>
          <a:lstStyle/>
          <a:p>
            <a:r>
              <a:rPr lang="en-GB" dirty="0"/>
              <a:t>Assignment</a:t>
            </a:r>
          </a:p>
        </p:txBody>
      </p:sp>
      <p:sp>
        <p:nvSpPr>
          <p:cNvPr id="3" name="Content Placeholder 2">
            <a:extLst>
              <a:ext uri="{FF2B5EF4-FFF2-40B4-BE49-F238E27FC236}">
                <a16:creationId xmlns:a16="http://schemas.microsoft.com/office/drawing/2014/main" id="{CFC60BF4-0A72-4936-B1C3-8992412C6028}"/>
              </a:ext>
            </a:extLst>
          </p:cNvPr>
          <p:cNvSpPr>
            <a:spLocks noGrp="1"/>
          </p:cNvSpPr>
          <p:nvPr>
            <p:ph idx="1"/>
          </p:nvPr>
        </p:nvSpPr>
        <p:spPr>
          <a:xfrm>
            <a:off x="838200" y="1052946"/>
            <a:ext cx="10515600" cy="5597236"/>
          </a:xfrm>
        </p:spPr>
        <p:txBody>
          <a:bodyPr>
            <a:normAutofit fontScale="92500" lnSpcReduction="10000"/>
          </a:bodyPr>
          <a:lstStyle/>
          <a:p>
            <a:r>
              <a:rPr lang="en-GB" dirty="0"/>
              <a:t>1. How does advertising differ from public relations?</a:t>
            </a:r>
          </a:p>
          <a:p>
            <a:r>
              <a:rPr lang="en-GB" dirty="0"/>
              <a:t>2. In the marketing communications process, what are the various dimensions of the source, the message, and the receiver?</a:t>
            </a:r>
          </a:p>
          <a:p>
            <a:r>
              <a:rPr lang="en-GB" dirty="0"/>
              <a:t>3. What is meant by noise and how might it affect an advertiser’s efforts? </a:t>
            </a:r>
          </a:p>
          <a:p>
            <a:r>
              <a:rPr lang="en-GB" dirty="0"/>
              <a:t>4. What are the three major functional areas of business and which function is most closely related to advertising? </a:t>
            </a:r>
          </a:p>
          <a:p>
            <a:r>
              <a:rPr lang="en-GB" dirty="0"/>
              <a:t>5. What are the two broad categories of target markets? </a:t>
            </a:r>
          </a:p>
          <a:p>
            <a:r>
              <a:rPr lang="en-GB" dirty="0"/>
              <a:t>6. In addition to consumer advertising, what specific form of business advertising would a pharmaceutical company be likely to employ?</a:t>
            </a:r>
          </a:p>
          <a:p>
            <a:r>
              <a:rPr lang="en-GB" dirty="0"/>
              <a:t> 7. What are the four elements that comprise a company’s marketing strategy and how do they affect the type of advertising a company uses?</a:t>
            </a:r>
          </a:p>
          <a:p>
            <a:r>
              <a:rPr lang="en-GB" dirty="0"/>
              <a:t> 8. What is the purpose of awareness advertising? </a:t>
            </a:r>
          </a:p>
          <a:p>
            <a:r>
              <a:rPr lang="en-GB" dirty="0"/>
              <a:t>9. Why is integrated marketing communications so important? </a:t>
            </a:r>
          </a:p>
        </p:txBody>
      </p:sp>
    </p:spTree>
    <p:extLst>
      <p:ext uri="{BB962C8B-B14F-4D97-AF65-F5344CB8AC3E}">
        <p14:creationId xmlns:p14="http://schemas.microsoft.com/office/powerpoint/2010/main" val="30543105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7212</TotalTime>
  <Words>2308</Words>
  <Application>Microsoft Office PowerPoint</Application>
  <PresentationFormat>Widescreen</PresentationFormat>
  <Paragraphs>195</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Marketing: Determining the type of advertising to use</vt:lpstr>
      <vt:lpstr>What Is Marketing?</vt:lpstr>
      <vt:lpstr>What is Marketing?</vt:lpstr>
      <vt:lpstr>Advertising and the Marketing Process</vt:lpstr>
      <vt:lpstr>Identifying Target Markets and Target Audiences</vt:lpstr>
      <vt:lpstr>1. Consumer Markets</vt:lpstr>
      <vt:lpstr>1. Consumer Markets</vt:lpstr>
      <vt:lpstr>2. Industrial/Business Markets</vt:lpstr>
      <vt:lpstr>2. Industrial/Business Markets</vt:lpstr>
      <vt:lpstr>2. Industrial/Business Markets</vt:lpstr>
      <vt:lpstr>Implementing Marketing Strategy</vt:lpstr>
      <vt:lpstr>Product: Categories of Goods and Services</vt:lpstr>
      <vt:lpstr>Price: Strategies for Emphasizing Value  </vt:lpstr>
      <vt:lpstr>Place: The Distribution Element </vt:lpstr>
      <vt:lpstr>Promotion: The Communication Element</vt:lpstr>
      <vt:lpstr>Promotion: The Communication Element</vt:lpstr>
      <vt:lpstr>Promotion: The Communication Element</vt:lpstr>
      <vt:lpstr>Promotion: The Communication Element</vt:lpstr>
      <vt:lpstr>Promotion: The Communication Element</vt:lpstr>
      <vt:lpstr>Promotion: The Communication Element</vt:lpstr>
      <vt:lpstr>Promotion: The Communication Element</vt:lpstr>
      <vt:lpstr>Integrating Marketing Communications</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Determining the type of advertising to use</dc:title>
  <dc:creator>PC1</dc:creator>
  <cp:lastModifiedBy>Adams Mahama</cp:lastModifiedBy>
  <cp:revision>101</cp:revision>
  <dcterms:created xsi:type="dcterms:W3CDTF">2024-06-16T20:17:13Z</dcterms:created>
  <dcterms:modified xsi:type="dcterms:W3CDTF">2026-07-07T08:06:09Z</dcterms:modified>
</cp:coreProperties>
</file>